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476" r:id="rId4"/>
    <p:sldId id="510" r:id="rId5"/>
    <p:sldId id="511" r:id="rId6"/>
    <p:sldId id="514" r:id="rId7"/>
    <p:sldId id="515" r:id="rId8"/>
    <p:sldId id="516" r:id="rId9"/>
    <p:sldId id="517" r:id="rId10"/>
    <p:sldId id="518" r:id="rId11"/>
    <p:sldId id="519" r:id="rId12"/>
    <p:sldId id="520" r:id="rId13"/>
    <p:sldId id="521" r:id="rId14"/>
    <p:sldId id="522" r:id="rId15"/>
    <p:sldId id="502" r:id="rId16"/>
    <p:sldId id="507" r:id="rId17"/>
    <p:sldId id="509" r:id="rId18"/>
    <p:sldId id="523" r:id="rId19"/>
    <p:sldId id="408" r:id="rId20"/>
    <p:sldId id="465" r:id="rId21"/>
  </p:sldIdLst>
  <p:sldSz cx="12192000" cy="6858000"/>
  <p:notesSz cx="12192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52"/>
    <p:restoredTop sz="94624"/>
  </p:normalViewPr>
  <p:slideViewPr>
    <p:cSldViewPr>
      <p:cViewPr varScale="1">
        <p:scale>
          <a:sx n="59" d="100"/>
          <a:sy n="59" d="100"/>
        </p:scale>
        <p:origin x="632" y="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CFDA1-9B4B-F84E-8F2B-2B9390D297D9}" type="doc">
      <dgm:prSet loTypeId="urn:microsoft.com/office/officeart/2009/3/layout/RandomtoResultProcess" loCatId="" qsTypeId="urn:microsoft.com/office/officeart/2005/8/quickstyle/simple4" qsCatId="simple" csTypeId="urn:microsoft.com/office/officeart/2005/8/colors/colorful3" csCatId="colorful" phldr="1"/>
      <dgm:spPr/>
    </dgm:pt>
    <dgm:pt modelId="{B0C7F7DF-01B7-004E-B5F5-F401F7B28AD9}">
      <dgm:prSet phldrT="[Texte]"/>
      <dgm:spPr/>
      <dgm:t>
        <a:bodyPr/>
        <a:lstStyle/>
        <a:p>
          <a:r>
            <a:rPr lang="fr-FR"/>
            <a:t>Ingestion des données</a:t>
          </a:r>
        </a:p>
      </dgm:t>
    </dgm:pt>
    <dgm:pt modelId="{BFA0DF5A-73FB-C641-9E88-17E7787BDCC8}" type="parTrans" cxnId="{C8981091-12C6-E548-B5B4-709F30F1403E}">
      <dgm:prSet/>
      <dgm:spPr/>
      <dgm:t>
        <a:bodyPr/>
        <a:lstStyle/>
        <a:p>
          <a:endParaRPr lang="fr-FR"/>
        </a:p>
      </dgm:t>
    </dgm:pt>
    <dgm:pt modelId="{B899BB54-230C-4940-8975-0169F21338B9}" type="sibTrans" cxnId="{C8981091-12C6-E548-B5B4-709F30F1403E}">
      <dgm:prSet/>
      <dgm:spPr/>
      <dgm:t>
        <a:bodyPr/>
        <a:lstStyle/>
        <a:p>
          <a:endParaRPr lang="fr-FR"/>
        </a:p>
      </dgm:t>
    </dgm:pt>
    <dgm:pt modelId="{734754F6-F4EE-9A49-A271-A5904239B2DA}">
      <dgm:prSet phldrT="[Texte]"/>
      <dgm:spPr/>
      <dgm:t>
        <a:bodyPr/>
        <a:lstStyle/>
        <a:p>
          <a:r>
            <a:rPr lang="fr-FR"/>
            <a:t>Préparation des données</a:t>
          </a:r>
        </a:p>
      </dgm:t>
    </dgm:pt>
    <dgm:pt modelId="{B3174EAC-C78D-C942-B996-59065F944FC8}" type="parTrans" cxnId="{A6B24AE2-9B0A-B146-90CA-EAF684790FDC}">
      <dgm:prSet/>
      <dgm:spPr/>
      <dgm:t>
        <a:bodyPr/>
        <a:lstStyle/>
        <a:p>
          <a:endParaRPr lang="fr-FR"/>
        </a:p>
      </dgm:t>
    </dgm:pt>
    <dgm:pt modelId="{4BBA9B94-596F-124E-9503-7C69C69E07E3}" type="sibTrans" cxnId="{A6B24AE2-9B0A-B146-90CA-EAF684790FDC}">
      <dgm:prSet/>
      <dgm:spPr/>
      <dgm:t>
        <a:bodyPr/>
        <a:lstStyle/>
        <a:p>
          <a:endParaRPr lang="fr-FR"/>
        </a:p>
      </dgm:t>
    </dgm:pt>
    <dgm:pt modelId="{B20312E5-04D2-2F45-84BE-36A7D5A5FABF}">
      <dgm:prSet phldrT="[Texte]"/>
      <dgm:spPr/>
      <dgm:t>
        <a:bodyPr/>
        <a:lstStyle/>
        <a:p>
          <a:r>
            <a:rPr lang="fr-FR"/>
            <a:t>Stockage des données</a:t>
          </a:r>
        </a:p>
      </dgm:t>
    </dgm:pt>
    <dgm:pt modelId="{F5D110A6-4862-9C40-ABA6-D7BDC755E186}" type="parTrans" cxnId="{C7232F44-6970-4A4E-A191-1C9C928798FB}">
      <dgm:prSet/>
      <dgm:spPr/>
      <dgm:t>
        <a:bodyPr/>
        <a:lstStyle/>
        <a:p>
          <a:endParaRPr lang="fr-FR"/>
        </a:p>
      </dgm:t>
    </dgm:pt>
    <dgm:pt modelId="{28557C2F-04F9-8544-9C59-3FEF1B957B34}" type="sibTrans" cxnId="{C7232F44-6970-4A4E-A191-1C9C928798FB}">
      <dgm:prSet/>
      <dgm:spPr/>
      <dgm:t>
        <a:bodyPr/>
        <a:lstStyle/>
        <a:p>
          <a:endParaRPr lang="fr-FR"/>
        </a:p>
      </dgm:t>
    </dgm:pt>
    <dgm:pt modelId="{1D07306F-67BF-EE4D-935C-21C389D7E5F3}">
      <dgm:prSet phldrT="[Texte]"/>
      <dgm:spPr/>
      <dgm:t>
        <a:bodyPr/>
        <a:lstStyle/>
        <a:p>
          <a:r>
            <a:rPr lang="fr-FR"/>
            <a:t>Analyse et traitement des données</a:t>
          </a:r>
        </a:p>
      </dgm:t>
    </dgm:pt>
    <dgm:pt modelId="{6F38D208-DE97-2449-AEA1-24356DFE5347}" type="parTrans" cxnId="{0843BED3-6096-244F-8125-F8DC77B9B767}">
      <dgm:prSet/>
      <dgm:spPr/>
      <dgm:t>
        <a:bodyPr/>
        <a:lstStyle/>
        <a:p>
          <a:endParaRPr lang="fr-FR"/>
        </a:p>
      </dgm:t>
    </dgm:pt>
    <dgm:pt modelId="{FE0165B9-3BFD-C241-923E-B11CD8FCB449}" type="sibTrans" cxnId="{0843BED3-6096-244F-8125-F8DC77B9B767}">
      <dgm:prSet/>
      <dgm:spPr/>
      <dgm:t>
        <a:bodyPr/>
        <a:lstStyle/>
        <a:p>
          <a:endParaRPr lang="fr-FR"/>
        </a:p>
      </dgm:t>
    </dgm:pt>
    <dgm:pt modelId="{0AC093A5-D3AC-D747-9F03-1CC2CE4FF297}" type="pres">
      <dgm:prSet presAssocID="{981CFDA1-9B4B-F84E-8F2B-2B9390D297D9}" presName="Name0" presStyleCnt="0">
        <dgm:presLayoutVars>
          <dgm:dir/>
          <dgm:animOne val="branch"/>
          <dgm:animLvl val="lvl"/>
        </dgm:presLayoutVars>
      </dgm:prSet>
      <dgm:spPr/>
    </dgm:pt>
    <dgm:pt modelId="{37ACC962-689E-0845-853A-C838581113CD}" type="pres">
      <dgm:prSet presAssocID="{B0C7F7DF-01B7-004E-B5F5-F401F7B28AD9}" presName="chaos" presStyleCnt="0"/>
      <dgm:spPr/>
    </dgm:pt>
    <dgm:pt modelId="{31577AD3-54DE-BD48-9F99-38C7677E5B33}" type="pres">
      <dgm:prSet presAssocID="{B0C7F7DF-01B7-004E-B5F5-F401F7B28AD9}" presName="parTx1" presStyleLbl="revTx" presStyleIdx="0" presStyleCnt="3"/>
      <dgm:spPr/>
    </dgm:pt>
    <dgm:pt modelId="{65BC2585-9F33-E249-8547-C95C9D931C3B}" type="pres">
      <dgm:prSet presAssocID="{B0C7F7DF-01B7-004E-B5F5-F401F7B28AD9}" presName="c1" presStyleLbl="node1" presStyleIdx="0" presStyleCnt="19"/>
      <dgm:spPr/>
    </dgm:pt>
    <dgm:pt modelId="{A5205A77-F571-B44E-8E2B-ECF4A43C797F}" type="pres">
      <dgm:prSet presAssocID="{B0C7F7DF-01B7-004E-B5F5-F401F7B28AD9}" presName="c2" presStyleLbl="node1" presStyleIdx="1" presStyleCnt="19"/>
      <dgm:spPr/>
    </dgm:pt>
    <dgm:pt modelId="{9F696178-0BA6-AD4F-B38D-55286A5B1A27}" type="pres">
      <dgm:prSet presAssocID="{B0C7F7DF-01B7-004E-B5F5-F401F7B28AD9}" presName="c3" presStyleLbl="node1" presStyleIdx="2" presStyleCnt="19"/>
      <dgm:spPr/>
    </dgm:pt>
    <dgm:pt modelId="{BB23765D-0E2D-1B4E-8156-31D9DB329F3C}" type="pres">
      <dgm:prSet presAssocID="{B0C7F7DF-01B7-004E-B5F5-F401F7B28AD9}" presName="c4" presStyleLbl="node1" presStyleIdx="3" presStyleCnt="19"/>
      <dgm:spPr/>
    </dgm:pt>
    <dgm:pt modelId="{A1459345-3BCF-7444-8703-0E023CD5E9D2}" type="pres">
      <dgm:prSet presAssocID="{B0C7F7DF-01B7-004E-B5F5-F401F7B28AD9}" presName="c5" presStyleLbl="node1" presStyleIdx="4" presStyleCnt="19"/>
      <dgm:spPr/>
    </dgm:pt>
    <dgm:pt modelId="{39444BB9-0501-8F44-B422-DB8788685E14}" type="pres">
      <dgm:prSet presAssocID="{B0C7F7DF-01B7-004E-B5F5-F401F7B28AD9}" presName="c6" presStyleLbl="node1" presStyleIdx="5" presStyleCnt="19"/>
      <dgm:spPr/>
    </dgm:pt>
    <dgm:pt modelId="{32E41CA0-6EA5-B140-A250-C80AA02953C4}" type="pres">
      <dgm:prSet presAssocID="{B0C7F7DF-01B7-004E-B5F5-F401F7B28AD9}" presName="c7" presStyleLbl="node1" presStyleIdx="6" presStyleCnt="19"/>
      <dgm:spPr/>
    </dgm:pt>
    <dgm:pt modelId="{BE25634E-0213-8E43-A419-5AC59D8B3379}" type="pres">
      <dgm:prSet presAssocID="{B0C7F7DF-01B7-004E-B5F5-F401F7B28AD9}" presName="c8" presStyleLbl="node1" presStyleIdx="7" presStyleCnt="19"/>
      <dgm:spPr/>
    </dgm:pt>
    <dgm:pt modelId="{24001807-5EDF-DC48-BB33-D5364F468AEA}" type="pres">
      <dgm:prSet presAssocID="{B0C7F7DF-01B7-004E-B5F5-F401F7B28AD9}" presName="c9" presStyleLbl="node1" presStyleIdx="8" presStyleCnt="19"/>
      <dgm:spPr/>
    </dgm:pt>
    <dgm:pt modelId="{A775B27D-3699-F94D-96C4-FA3E91B1A8A7}" type="pres">
      <dgm:prSet presAssocID="{B0C7F7DF-01B7-004E-B5F5-F401F7B28AD9}" presName="c10" presStyleLbl="node1" presStyleIdx="9" presStyleCnt="19"/>
      <dgm:spPr/>
    </dgm:pt>
    <dgm:pt modelId="{EAD66769-0DDA-C344-BBF9-E5128D440E9A}" type="pres">
      <dgm:prSet presAssocID="{B0C7F7DF-01B7-004E-B5F5-F401F7B28AD9}" presName="c11" presStyleLbl="node1" presStyleIdx="10" presStyleCnt="19"/>
      <dgm:spPr/>
    </dgm:pt>
    <dgm:pt modelId="{761A287B-A4E0-684D-AE9D-81EC1EDF98C1}" type="pres">
      <dgm:prSet presAssocID="{B0C7F7DF-01B7-004E-B5F5-F401F7B28AD9}" presName="c12" presStyleLbl="node1" presStyleIdx="11" presStyleCnt="19"/>
      <dgm:spPr/>
    </dgm:pt>
    <dgm:pt modelId="{5407B3A2-310E-7E4B-8ED1-685CE91D1706}" type="pres">
      <dgm:prSet presAssocID="{B0C7F7DF-01B7-004E-B5F5-F401F7B28AD9}" presName="c13" presStyleLbl="node1" presStyleIdx="12" presStyleCnt="19"/>
      <dgm:spPr/>
    </dgm:pt>
    <dgm:pt modelId="{A0C834C8-2F62-3E4D-A5ED-30FB63A08F03}" type="pres">
      <dgm:prSet presAssocID="{B0C7F7DF-01B7-004E-B5F5-F401F7B28AD9}" presName="c14" presStyleLbl="node1" presStyleIdx="13" presStyleCnt="19"/>
      <dgm:spPr/>
    </dgm:pt>
    <dgm:pt modelId="{7AC78AC9-5CD4-2D48-80C9-281BD6AB3F08}" type="pres">
      <dgm:prSet presAssocID="{B0C7F7DF-01B7-004E-B5F5-F401F7B28AD9}" presName="c15" presStyleLbl="node1" presStyleIdx="14" presStyleCnt="19"/>
      <dgm:spPr/>
    </dgm:pt>
    <dgm:pt modelId="{09848CFC-5630-0B49-B171-F0300219273B}" type="pres">
      <dgm:prSet presAssocID="{B0C7F7DF-01B7-004E-B5F5-F401F7B28AD9}" presName="c16" presStyleLbl="node1" presStyleIdx="15" presStyleCnt="19"/>
      <dgm:spPr/>
    </dgm:pt>
    <dgm:pt modelId="{BBB93493-9450-F141-A497-9C2B3BAD1F32}" type="pres">
      <dgm:prSet presAssocID="{B0C7F7DF-01B7-004E-B5F5-F401F7B28AD9}" presName="c17" presStyleLbl="node1" presStyleIdx="16" presStyleCnt="19"/>
      <dgm:spPr/>
    </dgm:pt>
    <dgm:pt modelId="{374D799D-F5B8-9940-AC9E-49D806FDD0F7}" type="pres">
      <dgm:prSet presAssocID="{B0C7F7DF-01B7-004E-B5F5-F401F7B28AD9}" presName="c18" presStyleLbl="node1" presStyleIdx="17" presStyleCnt="19"/>
      <dgm:spPr/>
    </dgm:pt>
    <dgm:pt modelId="{6F887286-E4A7-4341-8C47-42E1C805C703}" type="pres">
      <dgm:prSet presAssocID="{B899BB54-230C-4940-8975-0169F21338B9}" presName="chevronComposite1" presStyleCnt="0"/>
      <dgm:spPr/>
    </dgm:pt>
    <dgm:pt modelId="{63ABDFF8-4CD3-7A42-B914-A5F89081FB12}" type="pres">
      <dgm:prSet presAssocID="{B899BB54-230C-4940-8975-0169F21338B9}" presName="chevron1" presStyleLbl="sibTrans2D1" presStyleIdx="0" presStyleCnt="3"/>
      <dgm:spPr/>
    </dgm:pt>
    <dgm:pt modelId="{029E950C-6E43-D54D-9FAB-4048A062655B}" type="pres">
      <dgm:prSet presAssocID="{B899BB54-230C-4940-8975-0169F21338B9}" presName="spChevron1" presStyleCnt="0"/>
      <dgm:spPr/>
    </dgm:pt>
    <dgm:pt modelId="{D9D388E1-04E5-7041-8A61-B612141DB2F0}" type="pres">
      <dgm:prSet presAssocID="{734754F6-F4EE-9A49-A271-A5904239B2DA}" presName="middle" presStyleCnt="0"/>
      <dgm:spPr/>
    </dgm:pt>
    <dgm:pt modelId="{9D8D6929-0B0E-154A-B78A-0404FCD5DE33}" type="pres">
      <dgm:prSet presAssocID="{734754F6-F4EE-9A49-A271-A5904239B2DA}" presName="parTxMid" presStyleLbl="revTx" presStyleIdx="1" presStyleCnt="3"/>
      <dgm:spPr/>
    </dgm:pt>
    <dgm:pt modelId="{4858A40F-2A02-E943-A7F9-836A215C12B2}" type="pres">
      <dgm:prSet presAssocID="{734754F6-F4EE-9A49-A271-A5904239B2DA}" presName="spMid" presStyleCnt="0"/>
      <dgm:spPr/>
    </dgm:pt>
    <dgm:pt modelId="{DDA3B2BD-D7E8-794C-9C5F-EFF4C546690C}" type="pres">
      <dgm:prSet presAssocID="{4BBA9B94-596F-124E-9503-7C69C69E07E3}" presName="chevronComposite1" presStyleCnt="0"/>
      <dgm:spPr/>
    </dgm:pt>
    <dgm:pt modelId="{14355CE1-0FB9-0E40-B0F4-06295A03922D}" type="pres">
      <dgm:prSet presAssocID="{4BBA9B94-596F-124E-9503-7C69C69E07E3}" presName="chevron1" presStyleLbl="sibTrans2D1" presStyleIdx="1" presStyleCnt="3"/>
      <dgm:spPr/>
    </dgm:pt>
    <dgm:pt modelId="{5F74F84C-351C-4644-9E64-2179970455E9}" type="pres">
      <dgm:prSet presAssocID="{4BBA9B94-596F-124E-9503-7C69C69E07E3}" presName="spChevron1" presStyleCnt="0"/>
      <dgm:spPr/>
    </dgm:pt>
    <dgm:pt modelId="{CBAFED4E-E019-D546-891A-2160015FA211}" type="pres">
      <dgm:prSet presAssocID="{B20312E5-04D2-2F45-84BE-36A7D5A5FABF}" presName="middle" presStyleCnt="0"/>
      <dgm:spPr/>
    </dgm:pt>
    <dgm:pt modelId="{815FC6F4-3E18-5F4A-9169-556485628AC2}" type="pres">
      <dgm:prSet presAssocID="{B20312E5-04D2-2F45-84BE-36A7D5A5FABF}" presName="parTxMid" presStyleLbl="revTx" presStyleIdx="2" presStyleCnt="3"/>
      <dgm:spPr/>
    </dgm:pt>
    <dgm:pt modelId="{99F5B96B-E685-0B40-A7AB-923C0E80AEC2}" type="pres">
      <dgm:prSet presAssocID="{B20312E5-04D2-2F45-84BE-36A7D5A5FABF}" presName="spMid" presStyleCnt="0"/>
      <dgm:spPr/>
    </dgm:pt>
    <dgm:pt modelId="{C55898F6-C948-7347-B23E-7BEC55BE9F40}" type="pres">
      <dgm:prSet presAssocID="{28557C2F-04F9-8544-9C59-3FEF1B957B34}" presName="chevronComposite1" presStyleCnt="0"/>
      <dgm:spPr/>
    </dgm:pt>
    <dgm:pt modelId="{02DEA250-0E3E-944D-A520-832234D31893}" type="pres">
      <dgm:prSet presAssocID="{28557C2F-04F9-8544-9C59-3FEF1B957B34}" presName="chevron1" presStyleLbl="sibTrans2D1" presStyleIdx="2" presStyleCnt="3"/>
      <dgm:spPr/>
    </dgm:pt>
    <dgm:pt modelId="{1373F0B0-6A66-004F-A9D2-222D5AF2FB5D}" type="pres">
      <dgm:prSet presAssocID="{28557C2F-04F9-8544-9C59-3FEF1B957B34}" presName="spChevron1" presStyleCnt="0"/>
      <dgm:spPr/>
    </dgm:pt>
    <dgm:pt modelId="{68B40DDF-13BE-264E-9167-91C9D8968808}" type="pres">
      <dgm:prSet presAssocID="{1D07306F-67BF-EE4D-935C-21C389D7E5F3}" presName="last" presStyleCnt="0"/>
      <dgm:spPr/>
    </dgm:pt>
    <dgm:pt modelId="{3E6B53D0-C218-A14E-AFE4-CEC7AD972934}" type="pres">
      <dgm:prSet presAssocID="{1D07306F-67BF-EE4D-935C-21C389D7E5F3}" presName="circleTx" presStyleLbl="node1" presStyleIdx="18" presStyleCnt="19"/>
      <dgm:spPr/>
    </dgm:pt>
    <dgm:pt modelId="{E7027EF0-7598-6D44-9A77-434D4D0DBEF3}" type="pres">
      <dgm:prSet presAssocID="{1D07306F-67BF-EE4D-935C-21C389D7E5F3}" presName="spN" presStyleCnt="0"/>
      <dgm:spPr/>
    </dgm:pt>
  </dgm:ptLst>
  <dgm:cxnLst>
    <dgm:cxn modelId="{C7232F44-6970-4A4E-A191-1C9C928798FB}" srcId="{981CFDA1-9B4B-F84E-8F2B-2B9390D297D9}" destId="{B20312E5-04D2-2F45-84BE-36A7D5A5FABF}" srcOrd="2" destOrd="0" parTransId="{F5D110A6-4862-9C40-ABA6-D7BDC755E186}" sibTransId="{28557C2F-04F9-8544-9C59-3FEF1B957B34}"/>
    <dgm:cxn modelId="{8CEA8D45-8225-924B-B43E-4792E7B94CCD}" type="presOf" srcId="{1D07306F-67BF-EE4D-935C-21C389D7E5F3}" destId="{3E6B53D0-C218-A14E-AFE4-CEC7AD972934}" srcOrd="0" destOrd="0" presId="urn:microsoft.com/office/officeart/2009/3/layout/RandomtoResultProcess"/>
    <dgm:cxn modelId="{D782F051-41ED-6145-8D86-AD1BDEA60A7B}" type="presOf" srcId="{B20312E5-04D2-2F45-84BE-36A7D5A5FABF}" destId="{815FC6F4-3E18-5F4A-9169-556485628AC2}" srcOrd="0" destOrd="0" presId="urn:microsoft.com/office/officeart/2009/3/layout/RandomtoResultProcess"/>
    <dgm:cxn modelId="{C8981091-12C6-E548-B5B4-709F30F1403E}" srcId="{981CFDA1-9B4B-F84E-8F2B-2B9390D297D9}" destId="{B0C7F7DF-01B7-004E-B5F5-F401F7B28AD9}" srcOrd="0" destOrd="0" parTransId="{BFA0DF5A-73FB-C641-9E88-17E7787BDCC8}" sibTransId="{B899BB54-230C-4940-8975-0169F21338B9}"/>
    <dgm:cxn modelId="{A92306BA-274C-9B42-BAAE-5997744826A4}" type="presOf" srcId="{734754F6-F4EE-9A49-A271-A5904239B2DA}" destId="{9D8D6929-0B0E-154A-B78A-0404FCD5DE33}" srcOrd="0" destOrd="0" presId="urn:microsoft.com/office/officeart/2009/3/layout/RandomtoResultProcess"/>
    <dgm:cxn modelId="{0843BED3-6096-244F-8125-F8DC77B9B767}" srcId="{981CFDA1-9B4B-F84E-8F2B-2B9390D297D9}" destId="{1D07306F-67BF-EE4D-935C-21C389D7E5F3}" srcOrd="3" destOrd="0" parTransId="{6F38D208-DE97-2449-AEA1-24356DFE5347}" sibTransId="{FE0165B9-3BFD-C241-923E-B11CD8FCB449}"/>
    <dgm:cxn modelId="{B0BCF1E1-FC0E-9F4F-B065-6DD3E225E6D1}" type="presOf" srcId="{981CFDA1-9B4B-F84E-8F2B-2B9390D297D9}" destId="{0AC093A5-D3AC-D747-9F03-1CC2CE4FF297}" srcOrd="0" destOrd="0" presId="urn:microsoft.com/office/officeart/2009/3/layout/RandomtoResultProcess"/>
    <dgm:cxn modelId="{A6B24AE2-9B0A-B146-90CA-EAF684790FDC}" srcId="{981CFDA1-9B4B-F84E-8F2B-2B9390D297D9}" destId="{734754F6-F4EE-9A49-A271-A5904239B2DA}" srcOrd="1" destOrd="0" parTransId="{B3174EAC-C78D-C942-B996-59065F944FC8}" sibTransId="{4BBA9B94-596F-124E-9503-7C69C69E07E3}"/>
    <dgm:cxn modelId="{4E4EABEB-306F-B44A-AEE8-F69DAE17EEC3}" type="presOf" srcId="{B0C7F7DF-01B7-004E-B5F5-F401F7B28AD9}" destId="{31577AD3-54DE-BD48-9F99-38C7677E5B33}" srcOrd="0" destOrd="0" presId="urn:microsoft.com/office/officeart/2009/3/layout/RandomtoResultProcess"/>
    <dgm:cxn modelId="{E1837337-1B36-4749-9C60-14E2A65E906A}" type="presParOf" srcId="{0AC093A5-D3AC-D747-9F03-1CC2CE4FF297}" destId="{37ACC962-689E-0845-853A-C838581113CD}" srcOrd="0" destOrd="0" presId="urn:microsoft.com/office/officeart/2009/3/layout/RandomtoResultProcess"/>
    <dgm:cxn modelId="{EFA994DB-38AA-1C43-B6A0-8DE85F1A24FB}" type="presParOf" srcId="{37ACC962-689E-0845-853A-C838581113CD}" destId="{31577AD3-54DE-BD48-9F99-38C7677E5B33}" srcOrd="0" destOrd="0" presId="urn:microsoft.com/office/officeart/2009/3/layout/RandomtoResultProcess"/>
    <dgm:cxn modelId="{864E824B-B774-E444-AB1D-4AF8C6CD821D}" type="presParOf" srcId="{37ACC962-689E-0845-853A-C838581113CD}" destId="{65BC2585-9F33-E249-8547-C95C9D931C3B}" srcOrd="1" destOrd="0" presId="urn:microsoft.com/office/officeart/2009/3/layout/RandomtoResultProcess"/>
    <dgm:cxn modelId="{9E59FF69-3B80-7A42-9FCE-01562AF6FCF8}" type="presParOf" srcId="{37ACC962-689E-0845-853A-C838581113CD}" destId="{A5205A77-F571-B44E-8E2B-ECF4A43C797F}" srcOrd="2" destOrd="0" presId="urn:microsoft.com/office/officeart/2009/3/layout/RandomtoResultProcess"/>
    <dgm:cxn modelId="{03E8F862-35B6-3047-9469-3D4A4883C10A}" type="presParOf" srcId="{37ACC962-689E-0845-853A-C838581113CD}" destId="{9F696178-0BA6-AD4F-B38D-55286A5B1A27}" srcOrd="3" destOrd="0" presId="urn:microsoft.com/office/officeart/2009/3/layout/RandomtoResultProcess"/>
    <dgm:cxn modelId="{9D527646-74E1-BC41-87AE-F79467500BB5}" type="presParOf" srcId="{37ACC962-689E-0845-853A-C838581113CD}" destId="{BB23765D-0E2D-1B4E-8156-31D9DB329F3C}" srcOrd="4" destOrd="0" presId="urn:microsoft.com/office/officeart/2009/3/layout/RandomtoResultProcess"/>
    <dgm:cxn modelId="{5791D842-8FED-1641-9BD7-F9B45B13498E}" type="presParOf" srcId="{37ACC962-689E-0845-853A-C838581113CD}" destId="{A1459345-3BCF-7444-8703-0E023CD5E9D2}" srcOrd="5" destOrd="0" presId="urn:microsoft.com/office/officeart/2009/3/layout/RandomtoResultProcess"/>
    <dgm:cxn modelId="{22DCA59D-235E-6749-8F2A-700557D047CF}" type="presParOf" srcId="{37ACC962-689E-0845-853A-C838581113CD}" destId="{39444BB9-0501-8F44-B422-DB8788685E14}" srcOrd="6" destOrd="0" presId="urn:microsoft.com/office/officeart/2009/3/layout/RandomtoResultProcess"/>
    <dgm:cxn modelId="{3130C18A-74BF-FC42-A263-AAACBF3EB09F}" type="presParOf" srcId="{37ACC962-689E-0845-853A-C838581113CD}" destId="{32E41CA0-6EA5-B140-A250-C80AA02953C4}" srcOrd="7" destOrd="0" presId="urn:microsoft.com/office/officeart/2009/3/layout/RandomtoResultProcess"/>
    <dgm:cxn modelId="{0366CAA4-6C3E-8945-AE1E-C1908C18832B}" type="presParOf" srcId="{37ACC962-689E-0845-853A-C838581113CD}" destId="{BE25634E-0213-8E43-A419-5AC59D8B3379}" srcOrd="8" destOrd="0" presId="urn:microsoft.com/office/officeart/2009/3/layout/RandomtoResultProcess"/>
    <dgm:cxn modelId="{493B5682-35DC-3A40-A027-24C367A68B45}" type="presParOf" srcId="{37ACC962-689E-0845-853A-C838581113CD}" destId="{24001807-5EDF-DC48-BB33-D5364F468AEA}" srcOrd="9" destOrd="0" presId="urn:microsoft.com/office/officeart/2009/3/layout/RandomtoResultProcess"/>
    <dgm:cxn modelId="{CA83C654-839F-474C-94D5-F012877AC4C2}" type="presParOf" srcId="{37ACC962-689E-0845-853A-C838581113CD}" destId="{A775B27D-3699-F94D-96C4-FA3E91B1A8A7}" srcOrd="10" destOrd="0" presId="urn:microsoft.com/office/officeart/2009/3/layout/RandomtoResultProcess"/>
    <dgm:cxn modelId="{1B413911-E1AF-DC44-BA77-DE535822CD8D}" type="presParOf" srcId="{37ACC962-689E-0845-853A-C838581113CD}" destId="{EAD66769-0DDA-C344-BBF9-E5128D440E9A}" srcOrd="11" destOrd="0" presId="urn:microsoft.com/office/officeart/2009/3/layout/RandomtoResultProcess"/>
    <dgm:cxn modelId="{8B09524F-827F-6248-A191-F7D232FFAD08}" type="presParOf" srcId="{37ACC962-689E-0845-853A-C838581113CD}" destId="{761A287B-A4E0-684D-AE9D-81EC1EDF98C1}" srcOrd="12" destOrd="0" presId="urn:microsoft.com/office/officeart/2009/3/layout/RandomtoResultProcess"/>
    <dgm:cxn modelId="{16CEFD74-AAAC-0847-B26B-DCB3E454758A}" type="presParOf" srcId="{37ACC962-689E-0845-853A-C838581113CD}" destId="{5407B3A2-310E-7E4B-8ED1-685CE91D1706}" srcOrd="13" destOrd="0" presId="urn:microsoft.com/office/officeart/2009/3/layout/RandomtoResultProcess"/>
    <dgm:cxn modelId="{B32686B3-AA99-2B45-9010-13A8BC562504}" type="presParOf" srcId="{37ACC962-689E-0845-853A-C838581113CD}" destId="{A0C834C8-2F62-3E4D-A5ED-30FB63A08F03}" srcOrd="14" destOrd="0" presId="urn:microsoft.com/office/officeart/2009/3/layout/RandomtoResultProcess"/>
    <dgm:cxn modelId="{AACA762C-99A0-8946-BBEA-4E847C83126B}" type="presParOf" srcId="{37ACC962-689E-0845-853A-C838581113CD}" destId="{7AC78AC9-5CD4-2D48-80C9-281BD6AB3F08}" srcOrd="15" destOrd="0" presId="urn:microsoft.com/office/officeart/2009/3/layout/RandomtoResultProcess"/>
    <dgm:cxn modelId="{8C87C1EB-327A-444E-ABF1-8FD033616F51}" type="presParOf" srcId="{37ACC962-689E-0845-853A-C838581113CD}" destId="{09848CFC-5630-0B49-B171-F0300219273B}" srcOrd="16" destOrd="0" presId="urn:microsoft.com/office/officeart/2009/3/layout/RandomtoResultProcess"/>
    <dgm:cxn modelId="{6914C3E4-F5A6-3C46-B8ED-D3A83899D475}" type="presParOf" srcId="{37ACC962-689E-0845-853A-C838581113CD}" destId="{BBB93493-9450-F141-A497-9C2B3BAD1F32}" srcOrd="17" destOrd="0" presId="urn:microsoft.com/office/officeart/2009/3/layout/RandomtoResultProcess"/>
    <dgm:cxn modelId="{3F0A6DE2-D267-7145-A617-C4D860A68443}" type="presParOf" srcId="{37ACC962-689E-0845-853A-C838581113CD}" destId="{374D799D-F5B8-9940-AC9E-49D806FDD0F7}" srcOrd="18" destOrd="0" presId="urn:microsoft.com/office/officeart/2009/3/layout/RandomtoResultProcess"/>
    <dgm:cxn modelId="{327CBEB1-DEAC-7840-8827-CC080973E9ED}" type="presParOf" srcId="{0AC093A5-D3AC-D747-9F03-1CC2CE4FF297}" destId="{6F887286-E4A7-4341-8C47-42E1C805C703}" srcOrd="1" destOrd="0" presId="urn:microsoft.com/office/officeart/2009/3/layout/RandomtoResultProcess"/>
    <dgm:cxn modelId="{5B179A43-4021-FE40-BBBC-394EDDEB6EDA}" type="presParOf" srcId="{6F887286-E4A7-4341-8C47-42E1C805C703}" destId="{63ABDFF8-4CD3-7A42-B914-A5F89081FB12}" srcOrd="0" destOrd="0" presId="urn:microsoft.com/office/officeart/2009/3/layout/RandomtoResultProcess"/>
    <dgm:cxn modelId="{494B3212-3337-1F4C-A223-382DFD634954}" type="presParOf" srcId="{6F887286-E4A7-4341-8C47-42E1C805C703}" destId="{029E950C-6E43-D54D-9FAB-4048A062655B}" srcOrd="1" destOrd="0" presId="urn:microsoft.com/office/officeart/2009/3/layout/RandomtoResultProcess"/>
    <dgm:cxn modelId="{7984448D-6A97-1A48-BB09-876F8234B745}" type="presParOf" srcId="{0AC093A5-D3AC-D747-9F03-1CC2CE4FF297}" destId="{D9D388E1-04E5-7041-8A61-B612141DB2F0}" srcOrd="2" destOrd="0" presId="urn:microsoft.com/office/officeart/2009/3/layout/RandomtoResultProcess"/>
    <dgm:cxn modelId="{DEFFA562-2811-F34F-8E28-761B1FD43CDD}" type="presParOf" srcId="{D9D388E1-04E5-7041-8A61-B612141DB2F0}" destId="{9D8D6929-0B0E-154A-B78A-0404FCD5DE33}" srcOrd="0" destOrd="0" presId="urn:microsoft.com/office/officeart/2009/3/layout/RandomtoResultProcess"/>
    <dgm:cxn modelId="{8C1B08A0-7AD2-A840-A225-0AF71C162FF7}" type="presParOf" srcId="{D9D388E1-04E5-7041-8A61-B612141DB2F0}" destId="{4858A40F-2A02-E943-A7F9-836A215C12B2}" srcOrd="1" destOrd="0" presId="urn:microsoft.com/office/officeart/2009/3/layout/RandomtoResultProcess"/>
    <dgm:cxn modelId="{1F06781A-F3CB-2749-BC70-7266A9097479}" type="presParOf" srcId="{0AC093A5-D3AC-D747-9F03-1CC2CE4FF297}" destId="{DDA3B2BD-D7E8-794C-9C5F-EFF4C546690C}" srcOrd="3" destOrd="0" presId="urn:microsoft.com/office/officeart/2009/3/layout/RandomtoResultProcess"/>
    <dgm:cxn modelId="{FF948664-0B31-D84C-91CD-87FE03C64FDE}" type="presParOf" srcId="{DDA3B2BD-D7E8-794C-9C5F-EFF4C546690C}" destId="{14355CE1-0FB9-0E40-B0F4-06295A03922D}" srcOrd="0" destOrd="0" presId="urn:microsoft.com/office/officeart/2009/3/layout/RandomtoResultProcess"/>
    <dgm:cxn modelId="{C5F5DDDD-95CB-2048-88CD-59EB7D90EEFF}" type="presParOf" srcId="{DDA3B2BD-D7E8-794C-9C5F-EFF4C546690C}" destId="{5F74F84C-351C-4644-9E64-2179970455E9}" srcOrd="1" destOrd="0" presId="urn:microsoft.com/office/officeart/2009/3/layout/RandomtoResultProcess"/>
    <dgm:cxn modelId="{696FEA3D-F2EC-5341-B668-7B25DEC228B6}" type="presParOf" srcId="{0AC093A5-D3AC-D747-9F03-1CC2CE4FF297}" destId="{CBAFED4E-E019-D546-891A-2160015FA211}" srcOrd="4" destOrd="0" presId="urn:microsoft.com/office/officeart/2009/3/layout/RandomtoResultProcess"/>
    <dgm:cxn modelId="{C5C338F9-004D-2A47-99D6-21CF89936DCA}" type="presParOf" srcId="{CBAFED4E-E019-D546-891A-2160015FA211}" destId="{815FC6F4-3E18-5F4A-9169-556485628AC2}" srcOrd="0" destOrd="0" presId="urn:microsoft.com/office/officeart/2009/3/layout/RandomtoResultProcess"/>
    <dgm:cxn modelId="{5B331861-369C-044E-8FA5-8151F5483346}" type="presParOf" srcId="{CBAFED4E-E019-D546-891A-2160015FA211}" destId="{99F5B96B-E685-0B40-A7AB-923C0E80AEC2}" srcOrd="1" destOrd="0" presId="urn:microsoft.com/office/officeart/2009/3/layout/RandomtoResultProcess"/>
    <dgm:cxn modelId="{90FE5900-6C2C-CE47-9078-4659C8FA758E}" type="presParOf" srcId="{0AC093A5-D3AC-D747-9F03-1CC2CE4FF297}" destId="{C55898F6-C948-7347-B23E-7BEC55BE9F40}" srcOrd="5" destOrd="0" presId="urn:microsoft.com/office/officeart/2009/3/layout/RandomtoResultProcess"/>
    <dgm:cxn modelId="{022D17BE-72FB-654B-9530-0003414F6E32}" type="presParOf" srcId="{C55898F6-C948-7347-B23E-7BEC55BE9F40}" destId="{02DEA250-0E3E-944D-A520-832234D31893}" srcOrd="0" destOrd="0" presId="urn:microsoft.com/office/officeart/2009/3/layout/RandomtoResultProcess"/>
    <dgm:cxn modelId="{98ACCDB7-C8CD-4949-B150-A974B7FAD292}" type="presParOf" srcId="{C55898F6-C948-7347-B23E-7BEC55BE9F40}" destId="{1373F0B0-6A66-004F-A9D2-222D5AF2FB5D}" srcOrd="1" destOrd="0" presId="urn:microsoft.com/office/officeart/2009/3/layout/RandomtoResultProcess"/>
    <dgm:cxn modelId="{9282A62D-91D8-7F48-822D-CD2ECDAA94D1}" type="presParOf" srcId="{0AC093A5-D3AC-D747-9F03-1CC2CE4FF297}" destId="{68B40DDF-13BE-264E-9167-91C9D8968808}" srcOrd="6" destOrd="0" presId="urn:microsoft.com/office/officeart/2009/3/layout/RandomtoResultProcess"/>
    <dgm:cxn modelId="{5BC52195-3201-FA49-B7B4-589D8DEDE955}" type="presParOf" srcId="{68B40DDF-13BE-264E-9167-91C9D8968808}" destId="{3E6B53D0-C218-A14E-AFE4-CEC7AD972934}" srcOrd="0" destOrd="0" presId="urn:microsoft.com/office/officeart/2009/3/layout/RandomtoResultProcess"/>
    <dgm:cxn modelId="{9F09E29F-0B60-9F45-8F1A-1C4EDA453C6E}" type="presParOf" srcId="{68B40DDF-13BE-264E-9167-91C9D8968808}" destId="{E7027EF0-7598-6D44-9A77-434D4D0DBEF3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77AD3-54DE-BD48-9F99-38C7677E5B33}">
      <dsp:nvSpPr>
        <dsp:cNvPr id="0" name=""/>
        <dsp:cNvSpPr/>
      </dsp:nvSpPr>
      <dsp:spPr>
        <a:xfrm>
          <a:off x="91180" y="539800"/>
          <a:ext cx="1303682" cy="429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Ingestion des données</a:t>
          </a:r>
        </a:p>
      </dsp:txBody>
      <dsp:txXfrm>
        <a:off x="91180" y="539800"/>
        <a:ext cx="1303682" cy="429622"/>
      </dsp:txXfrm>
    </dsp:sp>
    <dsp:sp modelId="{65BC2585-9F33-E249-8547-C95C9D931C3B}">
      <dsp:nvSpPr>
        <dsp:cNvPr id="0" name=""/>
        <dsp:cNvSpPr/>
      </dsp:nvSpPr>
      <dsp:spPr>
        <a:xfrm>
          <a:off x="89698" y="409136"/>
          <a:ext cx="103701" cy="10370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205A77-F571-B44E-8E2B-ECF4A43C797F}">
      <dsp:nvSpPr>
        <dsp:cNvPr id="0" name=""/>
        <dsp:cNvSpPr/>
      </dsp:nvSpPr>
      <dsp:spPr>
        <a:xfrm>
          <a:off x="162290" y="263953"/>
          <a:ext cx="103701" cy="103701"/>
        </a:xfrm>
        <a:prstGeom prst="ellipse">
          <a:avLst/>
        </a:prstGeom>
        <a:gradFill rotWithShape="0">
          <a:gsLst>
            <a:gs pos="0">
              <a:schemeClr val="accent3">
                <a:hueOff val="625015"/>
                <a:satOff val="-938"/>
                <a:lumOff val="-153"/>
                <a:alphaOff val="0"/>
                <a:shade val="51000"/>
                <a:satMod val="130000"/>
              </a:schemeClr>
            </a:gs>
            <a:gs pos="80000">
              <a:schemeClr val="accent3">
                <a:hueOff val="625015"/>
                <a:satOff val="-938"/>
                <a:lumOff val="-153"/>
                <a:alphaOff val="0"/>
                <a:shade val="93000"/>
                <a:satMod val="130000"/>
              </a:schemeClr>
            </a:gs>
            <a:gs pos="100000">
              <a:schemeClr val="accent3">
                <a:hueOff val="625015"/>
                <a:satOff val="-938"/>
                <a:lumOff val="-15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696178-0BA6-AD4F-B38D-55286A5B1A27}">
      <dsp:nvSpPr>
        <dsp:cNvPr id="0" name=""/>
        <dsp:cNvSpPr/>
      </dsp:nvSpPr>
      <dsp:spPr>
        <a:xfrm>
          <a:off x="336509" y="292990"/>
          <a:ext cx="162960" cy="162960"/>
        </a:xfrm>
        <a:prstGeom prst="ellipse">
          <a:avLst/>
        </a:prstGeom>
        <a:gradFill rotWithShape="0">
          <a:gsLst>
            <a:gs pos="0">
              <a:schemeClr val="accent3">
                <a:hueOff val="1250029"/>
                <a:satOff val="-1876"/>
                <a:lumOff val="-305"/>
                <a:alphaOff val="0"/>
                <a:shade val="51000"/>
                <a:satMod val="130000"/>
              </a:schemeClr>
            </a:gs>
            <a:gs pos="80000">
              <a:schemeClr val="accent3">
                <a:hueOff val="1250029"/>
                <a:satOff val="-1876"/>
                <a:lumOff val="-305"/>
                <a:alphaOff val="0"/>
                <a:shade val="93000"/>
                <a:satMod val="130000"/>
              </a:schemeClr>
            </a:gs>
            <a:gs pos="100000">
              <a:schemeClr val="accent3">
                <a:hueOff val="1250029"/>
                <a:satOff val="-1876"/>
                <a:lumOff val="-30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23765D-0E2D-1B4E-8156-31D9DB329F3C}">
      <dsp:nvSpPr>
        <dsp:cNvPr id="0" name=""/>
        <dsp:cNvSpPr/>
      </dsp:nvSpPr>
      <dsp:spPr>
        <a:xfrm>
          <a:off x="481692" y="133289"/>
          <a:ext cx="103701" cy="103701"/>
        </a:xfrm>
        <a:prstGeom prst="ellipse">
          <a:avLst/>
        </a:prstGeom>
        <a:gradFill rotWithShape="0">
          <a:gsLst>
            <a:gs pos="0">
              <a:schemeClr val="accent3">
                <a:hueOff val="1875044"/>
                <a:satOff val="-2813"/>
                <a:lumOff val="-458"/>
                <a:alphaOff val="0"/>
                <a:shade val="51000"/>
                <a:satMod val="130000"/>
              </a:schemeClr>
            </a:gs>
            <a:gs pos="80000">
              <a:schemeClr val="accent3">
                <a:hueOff val="1875044"/>
                <a:satOff val="-2813"/>
                <a:lumOff val="-458"/>
                <a:alphaOff val="0"/>
                <a:shade val="93000"/>
                <a:satMod val="130000"/>
              </a:schemeClr>
            </a:gs>
            <a:gs pos="100000">
              <a:schemeClr val="accent3">
                <a:hueOff val="1875044"/>
                <a:satOff val="-2813"/>
                <a:lumOff val="-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1459345-3BCF-7444-8703-0E023CD5E9D2}">
      <dsp:nvSpPr>
        <dsp:cNvPr id="0" name=""/>
        <dsp:cNvSpPr/>
      </dsp:nvSpPr>
      <dsp:spPr>
        <a:xfrm>
          <a:off x="670430" y="75216"/>
          <a:ext cx="103701" cy="103701"/>
        </a:xfrm>
        <a:prstGeom prst="ellipse">
          <a:avLst/>
        </a:prstGeom>
        <a:gradFill rotWithShape="0">
          <a:gsLst>
            <a:gs pos="0">
              <a:schemeClr val="accent3">
                <a:hueOff val="2500059"/>
                <a:satOff val="-3751"/>
                <a:lumOff val="-610"/>
                <a:alphaOff val="0"/>
                <a:shade val="51000"/>
                <a:satMod val="130000"/>
              </a:schemeClr>
            </a:gs>
            <a:gs pos="80000">
              <a:schemeClr val="accent3">
                <a:hueOff val="2500059"/>
                <a:satOff val="-3751"/>
                <a:lumOff val="-610"/>
                <a:alphaOff val="0"/>
                <a:shade val="93000"/>
                <a:satMod val="130000"/>
              </a:schemeClr>
            </a:gs>
            <a:gs pos="100000">
              <a:schemeClr val="accent3">
                <a:hueOff val="2500059"/>
                <a:satOff val="-3751"/>
                <a:lumOff val="-61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444BB9-0501-8F44-B422-DB8788685E14}">
      <dsp:nvSpPr>
        <dsp:cNvPr id="0" name=""/>
        <dsp:cNvSpPr/>
      </dsp:nvSpPr>
      <dsp:spPr>
        <a:xfrm>
          <a:off x="902722" y="176844"/>
          <a:ext cx="103701" cy="103701"/>
        </a:xfrm>
        <a:prstGeom prst="ellipse">
          <a:avLst/>
        </a:prstGeom>
        <a:gradFill rotWithShape="0">
          <a:gsLst>
            <a:gs pos="0">
              <a:schemeClr val="accent3">
                <a:hueOff val="3125073"/>
                <a:satOff val="-4689"/>
                <a:lumOff val="-763"/>
                <a:alphaOff val="0"/>
                <a:shade val="51000"/>
                <a:satMod val="130000"/>
              </a:schemeClr>
            </a:gs>
            <a:gs pos="80000">
              <a:schemeClr val="accent3">
                <a:hueOff val="3125073"/>
                <a:satOff val="-4689"/>
                <a:lumOff val="-763"/>
                <a:alphaOff val="0"/>
                <a:shade val="93000"/>
                <a:satMod val="130000"/>
              </a:schemeClr>
            </a:gs>
            <a:gs pos="100000">
              <a:schemeClr val="accent3">
                <a:hueOff val="3125073"/>
                <a:satOff val="-4689"/>
                <a:lumOff val="-76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E41CA0-6EA5-B140-A250-C80AA02953C4}">
      <dsp:nvSpPr>
        <dsp:cNvPr id="0" name=""/>
        <dsp:cNvSpPr/>
      </dsp:nvSpPr>
      <dsp:spPr>
        <a:xfrm>
          <a:off x="1047905" y="249435"/>
          <a:ext cx="162960" cy="162960"/>
        </a:xfrm>
        <a:prstGeom prst="ellipse">
          <a:avLst/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25634E-0213-8E43-A419-5AC59D8B3379}">
      <dsp:nvSpPr>
        <dsp:cNvPr id="0" name=""/>
        <dsp:cNvSpPr/>
      </dsp:nvSpPr>
      <dsp:spPr>
        <a:xfrm>
          <a:off x="1251161" y="409136"/>
          <a:ext cx="103701" cy="103701"/>
        </a:xfrm>
        <a:prstGeom prst="ellipse">
          <a:avLst/>
        </a:prstGeom>
        <a:gradFill rotWithShape="0">
          <a:gsLst>
            <a:gs pos="0">
              <a:schemeClr val="accent3">
                <a:hueOff val="4375102"/>
                <a:satOff val="-6564"/>
                <a:lumOff val="-1068"/>
                <a:alphaOff val="0"/>
                <a:shade val="51000"/>
                <a:satMod val="130000"/>
              </a:schemeClr>
            </a:gs>
            <a:gs pos="80000">
              <a:schemeClr val="accent3">
                <a:hueOff val="4375102"/>
                <a:satOff val="-6564"/>
                <a:lumOff val="-1068"/>
                <a:alphaOff val="0"/>
                <a:shade val="93000"/>
                <a:satMod val="130000"/>
              </a:schemeClr>
            </a:gs>
            <a:gs pos="100000">
              <a:schemeClr val="accent3">
                <a:hueOff val="4375102"/>
                <a:satOff val="-6564"/>
                <a:lumOff val="-106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001807-5EDF-DC48-BB33-D5364F468AEA}">
      <dsp:nvSpPr>
        <dsp:cNvPr id="0" name=""/>
        <dsp:cNvSpPr/>
      </dsp:nvSpPr>
      <dsp:spPr>
        <a:xfrm>
          <a:off x="1338270" y="568837"/>
          <a:ext cx="103701" cy="103701"/>
        </a:xfrm>
        <a:prstGeom prst="ellipse">
          <a:avLst/>
        </a:prstGeom>
        <a:gradFill rotWithShape="0">
          <a:gsLst>
            <a:gs pos="0">
              <a:schemeClr val="accent3">
                <a:hueOff val="5000117"/>
                <a:satOff val="-7502"/>
                <a:lumOff val="-1220"/>
                <a:alphaOff val="0"/>
                <a:shade val="51000"/>
                <a:satMod val="130000"/>
              </a:schemeClr>
            </a:gs>
            <a:gs pos="80000">
              <a:schemeClr val="accent3">
                <a:hueOff val="5000117"/>
                <a:satOff val="-7502"/>
                <a:lumOff val="-1220"/>
                <a:alphaOff val="0"/>
                <a:shade val="93000"/>
                <a:satMod val="130000"/>
              </a:schemeClr>
            </a:gs>
            <a:gs pos="100000">
              <a:schemeClr val="accent3">
                <a:hueOff val="5000117"/>
                <a:satOff val="-7502"/>
                <a:lumOff val="-122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75B27D-3699-F94D-96C4-FA3E91B1A8A7}">
      <dsp:nvSpPr>
        <dsp:cNvPr id="0" name=""/>
        <dsp:cNvSpPr/>
      </dsp:nvSpPr>
      <dsp:spPr>
        <a:xfrm>
          <a:off x="583320" y="263953"/>
          <a:ext cx="266662" cy="266662"/>
        </a:xfrm>
        <a:prstGeom prst="ellipse">
          <a:avLst/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shade val="51000"/>
                <a:satMod val="130000"/>
              </a:schemeClr>
            </a:gs>
            <a:gs pos="80000">
              <a:schemeClr val="accent3">
                <a:hueOff val="5625132"/>
                <a:satOff val="-8440"/>
                <a:lumOff val="-1373"/>
                <a:alphaOff val="0"/>
                <a:shade val="93000"/>
                <a:satMod val="13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D66769-0DDA-C344-BBF9-E5128D440E9A}">
      <dsp:nvSpPr>
        <dsp:cNvPr id="0" name=""/>
        <dsp:cNvSpPr/>
      </dsp:nvSpPr>
      <dsp:spPr>
        <a:xfrm>
          <a:off x="17107" y="815648"/>
          <a:ext cx="103701" cy="103701"/>
        </a:xfrm>
        <a:prstGeom prst="ellipse">
          <a:avLst/>
        </a:prstGeom>
        <a:gradFill rotWithShape="0">
          <a:gsLst>
            <a:gs pos="0">
              <a:schemeClr val="accent3">
                <a:hueOff val="6250147"/>
                <a:satOff val="-9378"/>
                <a:lumOff val="-1525"/>
                <a:alphaOff val="0"/>
                <a:shade val="51000"/>
                <a:satMod val="130000"/>
              </a:schemeClr>
            </a:gs>
            <a:gs pos="80000">
              <a:schemeClr val="accent3">
                <a:hueOff val="6250147"/>
                <a:satOff val="-9378"/>
                <a:lumOff val="-1525"/>
                <a:alphaOff val="0"/>
                <a:shade val="93000"/>
                <a:satMod val="130000"/>
              </a:schemeClr>
            </a:gs>
            <a:gs pos="100000">
              <a:schemeClr val="accent3">
                <a:hueOff val="6250147"/>
                <a:satOff val="-9378"/>
                <a:lumOff val="-152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1A287B-A4E0-684D-AE9D-81EC1EDF98C1}">
      <dsp:nvSpPr>
        <dsp:cNvPr id="0" name=""/>
        <dsp:cNvSpPr/>
      </dsp:nvSpPr>
      <dsp:spPr>
        <a:xfrm>
          <a:off x="104217" y="946312"/>
          <a:ext cx="162960" cy="162960"/>
        </a:xfrm>
        <a:prstGeom prst="ellipse">
          <a:avLst/>
        </a:prstGeom>
        <a:gradFill rotWithShape="0">
          <a:gsLst>
            <a:gs pos="0">
              <a:schemeClr val="accent3">
                <a:hueOff val="6875161"/>
                <a:satOff val="-10316"/>
                <a:lumOff val="-1678"/>
                <a:alphaOff val="0"/>
                <a:shade val="51000"/>
                <a:satMod val="130000"/>
              </a:schemeClr>
            </a:gs>
            <a:gs pos="80000">
              <a:schemeClr val="accent3">
                <a:hueOff val="6875161"/>
                <a:satOff val="-10316"/>
                <a:lumOff val="-1678"/>
                <a:alphaOff val="0"/>
                <a:shade val="93000"/>
                <a:satMod val="130000"/>
              </a:schemeClr>
            </a:gs>
            <a:gs pos="100000">
              <a:schemeClr val="accent3">
                <a:hueOff val="6875161"/>
                <a:satOff val="-10316"/>
                <a:lumOff val="-16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07B3A2-310E-7E4B-8ED1-685CE91D1706}">
      <dsp:nvSpPr>
        <dsp:cNvPr id="0" name=""/>
        <dsp:cNvSpPr/>
      </dsp:nvSpPr>
      <dsp:spPr>
        <a:xfrm>
          <a:off x="321991" y="1062459"/>
          <a:ext cx="237033" cy="237033"/>
        </a:xfrm>
        <a:prstGeom prst="ellipse">
          <a:avLst/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C834C8-2F62-3E4D-A5ED-30FB63A08F03}">
      <dsp:nvSpPr>
        <dsp:cNvPr id="0" name=""/>
        <dsp:cNvSpPr/>
      </dsp:nvSpPr>
      <dsp:spPr>
        <a:xfrm>
          <a:off x="626875" y="1251196"/>
          <a:ext cx="103701" cy="103701"/>
        </a:xfrm>
        <a:prstGeom prst="ellipse">
          <a:avLst/>
        </a:prstGeom>
        <a:gradFill rotWithShape="0">
          <a:gsLst>
            <a:gs pos="0">
              <a:schemeClr val="accent3">
                <a:hueOff val="8125191"/>
                <a:satOff val="-12191"/>
                <a:lumOff val="-1983"/>
                <a:alphaOff val="0"/>
                <a:shade val="51000"/>
                <a:satMod val="130000"/>
              </a:schemeClr>
            </a:gs>
            <a:gs pos="80000">
              <a:schemeClr val="accent3">
                <a:hueOff val="8125191"/>
                <a:satOff val="-12191"/>
                <a:lumOff val="-1983"/>
                <a:alphaOff val="0"/>
                <a:shade val="93000"/>
                <a:satMod val="130000"/>
              </a:schemeClr>
            </a:gs>
            <a:gs pos="100000">
              <a:schemeClr val="accent3">
                <a:hueOff val="8125191"/>
                <a:satOff val="-12191"/>
                <a:lumOff val="-198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AC78AC9-5CD4-2D48-80C9-281BD6AB3F08}">
      <dsp:nvSpPr>
        <dsp:cNvPr id="0" name=""/>
        <dsp:cNvSpPr/>
      </dsp:nvSpPr>
      <dsp:spPr>
        <a:xfrm>
          <a:off x="684948" y="1062459"/>
          <a:ext cx="162960" cy="162960"/>
        </a:xfrm>
        <a:prstGeom prst="ellipse">
          <a:avLst/>
        </a:prstGeom>
        <a:gradFill rotWithShape="0">
          <a:gsLst>
            <a:gs pos="0">
              <a:schemeClr val="accent3">
                <a:hueOff val="8750205"/>
                <a:satOff val="-13129"/>
                <a:lumOff val="-2135"/>
                <a:alphaOff val="0"/>
                <a:shade val="51000"/>
                <a:satMod val="130000"/>
              </a:schemeClr>
            </a:gs>
            <a:gs pos="80000">
              <a:schemeClr val="accent3">
                <a:hueOff val="8750205"/>
                <a:satOff val="-13129"/>
                <a:lumOff val="-2135"/>
                <a:alphaOff val="0"/>
                <a:shade val="93000"/>
                <a:satMod val="130000"/>
              </a:schemeClr>
            </a:gs>
            <a:gs pos="100000">
              <a:schemeClr val="accent3">
                <a:hueOff val="8750205"/>
                <a:satOff val="-13129"/>
                <a:lumOff val="-213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848CFC-5630-0B49-B171-F0300219273B}">
      <dsp:nvSpPr>
        <dsp:cNvPr id="0" name=""/>
        <dsp:cNvSpPr/>
      </dsp:nvSpPr>
      <dsp:spPr>
        <a:xfrm>
          <a:off x="830131" y="1265714"/>
          <a:ext cx="103701" cy="103701"/>
        </a:xfrm>
        <a:prstGeom prst="ellipse">
          <a:avLst/>
        </a:prstGeom>
        <a:gradFill rotWithShape="0">
          <a:gsLst>
            <a:gs pos="0">
              <a:schemeClr val="accent3">
                <a:hueOff val="9375220"/>
                <a:satOff val="-14067"/>
                <a:lumOff val="-2288"/>
                <a:alphaOff val="0"/>
                <a:shade val="51000"/>
                <a:satMod val="130000"/>
              </a:schemeClr>
            </a:gs>
            <a:gs pos="80000">
              <a:schemeClr val="accent3">
                <a:hueOff val="9375220"/>
                <a:satOff val="-14067"/>
                <a:lumOff val="-2288"/>
                <a:alphaOff val="0"/>
                <a:shade val="93000"/>
                <a:satMod val="130000"/>
              </a:schemeClr>
            </a:gs>
            <a:gs pos="100000">
              <a:schemeClr val="accent3">
                <a:hueOff val="9375220"/>
                <a:satOff val="-14067"/>
                <a:lumOff val="-22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B93493-9450-F141-A497-9C2B3BAD1F32}">
      <dsp:nvSpPr>
        <dsp:cNvPr id="0" name=""/>
        <dsp:cNvSpPr/>
      </dsp:nvSpPr>
      <dsp:spPr>
        <a:xfrm>
          <a:off x="960795" y="1033422"/>
          <a:ext cx="237033" cy="237033"/>
        </a:xfrm>
        <a:prstGeom prst="ellipse">
          <a:avLst/>
        </a:prstGeom>
        <a:gradFill rotWithShape="0">
          <a:gsLst>
            <a:gs pos="0">
              <a:schemeClr val="accent3">
                <a:hueOff val="10000235"/>
                <a:satOff val="-15004"/>
                <a:lumOff val="-2440"/>
                <a:alphaOff val="0"/>
                <a:shade val="51000"/>
                <a:satMod val="130000"/>
              </a:schemeClr>
            </a:gs>
            <a:gs pos="80000">
              <a:schemeClr val="accent3">
                <a:hueOff val="10000235"/>
                <a:satOff val="-15004"/>
                <a:lumOff val="-2440"/>
                <a:alphaOff val="0"/>
                <a:shade val="93000"/>
                <a:satMod val="130000"/>
              </a:schemeClr>
            </a:gs>
            <a:gs pos="100000">
              <a:schemeClr val="accent3">
                <a:hueOff val="10000235"/>
                <a:satOff val="-15004"/>
                <a:lumOff val="-244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4D799D-F5B8-9940-AC9E-49D806FDD0F7}">
      <dsp:nvSpPr>
        <dsp:cNvPr id="0" name=""/>
        <dsp:cNvSpPr/>
      </dsp:nvSpPr>
      <dsp:spPr>
        <a:xfrm>
          <a:off x="1280197" y="975349"/>
          <a:ext cx="162960" cy="162960"/>
        </a:xfrm>
        <a:prstGeom prst="ellipse">
          <a:avLst/>
        </a:prstGeom>
        <a:gradFill rotWithShape="0">
          <a:gsLst>
            <a:gs pos="0">
              <a:schemeClr val="accent3">
                <a:hueOff val="10625249"/>
                <a:satOff val="-15942"/>
                <a:lumOff val="-2593"/>
                <a:alphaOff val="0"/>
                <a:shade val="51000"/>
                <a:satMod val="130000"/>
              </a:schemeClr>
            </a:gs>
            <a:gs pos="80000">
              <a:schemeClr val="accent3">
                <a:hueOff val="10625249"/>
                <a:satOff val="-15942"/>
                <a:lumOff val="-2593"/>
                <a:alphaOff val="0"/>
                <a:shade val="93000"/>
                <a:satMod val="130000"/>
              </a:schemeClr>
            </a:gs>
            <a:gs pos="100000">
              <a:schemeClr val="accent3">
                <a:hueOff val="10625249"/>
                <a:satOff val="-15942"/>
                <a:lumOff val="-259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ABDFF8-4CD3-7A42-B914-A5F89081FB12}">
      <dsp:nvSpPr>
        <dsp:cNvPr id="0" name=""/>
        <dsp:cNvSpPr/>
      </dsp:nvSpPr>
      <dsp:spPr>
        <a:xfrm>
          <a:off x="1443158" y="292748"/>
          <a:ext cx="478591" cy="913682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8D6929-0B0E-154A-B78A-0404FCD5DE33}">
      <dsp:nvSpPr>
        <dsp:cNvPr id="0" name=""/>
        <dsp:cNvSpPr/>
      </dsp:nvSpPr>
      <dsp:spPr>
        <a:xfrm>
          <a:off x="1921749" y="293192"/>
          <a:ext cx="1305248" cy="913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Préparation des données</a:t>
          </a:r>
        </a:p>
      </dsp:txBody>
      <dsp:txXfrm>
        <a:off x="1921749" y="293192"/>
        <a:ext cx="1305248" cy="913673"/>
      </dsp:txXfrm>
    </dsp:sp>
    <dsp:sp modelId="{14355CE1-0FB9-0E40-B0F4-06295A03922D}">
      <dsp:nvSpPr>
        <dsp:cNvPr id="0" name=""/>
        <dsp:cNvSpPr/>
      </dsp:nvSpPr>
      <dsp:spPr>
        <a:xfrm>
          <a:off x="3226997" y="292748"/>
          <a:ext cx="478591" cy="913682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shade val="51000"/>
                <a:satMod val="130000"/>
              </a:schemeClr>
            </a:gs>
            <a:gs pos="80000">
              <a:schemeClr val="accent3">
                <a:hueOff val="5625132"/>
                <a:satOff val="-8440"/>
                <a:lumOff val="-1373"/>
                <a:alphaOff val="0"/>
                <a:shade val="93000"/>
                <a:satMod val="13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5FC6F4-3E18-5F4A-9169-556485628AC2}">
      <dsp:nvSpPr>
        <dsp:cNvPr id="0" name=""/>
        <dsp:cNvSpPr/>
      </dsp:nvSpPr>
      <dsp:spPr>
        <a:xfrm>
          <a:off x="3705588" y="293192"/>
          <a:ext cx="1305248" cy="913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Stockage des données</a:t>
          </a:r>
        </a:p>
      </dsp:txBody>
      <dsp:txXfrm>
        <a:off x="3705588" y="293192"/>
        <a:ext cx="1305248" cy="913673"/>
      </dsp:txXfrm>
    </dsp:sp>
    <dsp:sp modelId="{02DEA250-0E3E-944D-A520-832234D31893}">
      <dsp:nvSpPr>
        <dsp:cNvPr id="0" name=""/>
        <dsp:cNvSpPr/>
      </dsp:nvSpPr>
      <dsp:spPr>
        <a:xfrm>
          <a:off x="5010837" y="292748"/>
          <a:ext cx="478591" cy="913682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E6B53D0-C218-A14E-AFE4-CEC7AD972934}">
      <dsp:nvSpPr>
        <dsp:cNvPr id="0" name=""/>
        <dsp:cNvSpPr/>
      </dsp:nvSpPr>
      <dsp:spPr>
        <a:xfrm>
          <a:off x="5541638" y="217240"/>
          <a:ext cx="1109461" cy="1109461"/>
        </a:xfrm>
        <a:prstGeom prst="ellipse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Analyse et traitement des données</a:t>
          </a:r>
        </a:p>
      </dsp:txBody>
      <dsp:txXfrm>
        <a:off x="5704115" y="379717"/>
        <a:ext cx="784507" cy="784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C5079-4392-B94E-ACCB-CDEA6FBDADD3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742AF-EC4B-A84D-BBC9-3A4F85C4B7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540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910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7783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3603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9364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7654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2149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473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9819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429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22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88166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6523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86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4400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6778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6993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3387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latin typeface="+mn-lt"/>
                <a:cs typeface="Calibri"/>
              </a:rPr>
              <a:t>Une transition vers la data science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42AF-EC4B-A84D-BBC9-3A4F85C4B7B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722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2503" y="-15494"/>
            <a:ext cx="11746992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1</a:t>
            </a:r>
            <a:r>
              <a:rPr spc="5" dirty="0"/>
              <a:t>8</a:t>
            </a:r>
            <a:r>
              <a:rPr dirty="0"/>
              <a:t>/1</a:t>
            </a:r>
            <a:r>
              <a:rPr spc="5" dirty="0"/>
              <a:t>2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17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1</a:t>
            </a:r>
            <a:r>
              <a:rPr spc="5" dirty="0"/>
              <a:t>8</a:t>
            </a:r>
            <a:r>
              <a:rPr dirty="0"/>
              <a:t>/1</a:t>
            </a:r>
            <a:r>
              <a:rPr spc="5" dirty="0"/>
              <a:t>2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17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1</a:t>
            </a:r>
            <a:r>
              <a:rPr spc="5" dirty="0"/>
              <a:t>8</a:t>
            </a:r>
            <a:r>
              <a:rPr dirty="0"/>
              <a:t>/1</a:t>
            </a:r>
            <a:r>
              <a:rPr spc="5" dirty="0"/>
              <a:t>2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17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1</a:t>
            </a:r>
            <a:r>
              <a:rPr spc="5" dirty="0"/>
              <a:t>8</a:t>
            </a:r>
            <a:r>
              <a:rPr dirty="0"/>
              <a:t>/1</a:t>
            </a:r>
            <a:r>
              <a:rPr spc="5" dirty="0"/>
              <a:t>2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17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1</a:t>
            </a:r>
            <a:r>
              <a:rPr spc="5" dirty="0"/>
              <a:t>8</a:t>
            </a:r>
            <a:r>
              <a:rPr dirty="0"/>
              <a:t>/1</a:t>
            </a:r>
            <a:r>
              <a:rPr spc="5" dirty="0"/>
              <a:t>2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17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1588" y="-32257"/>
            <a:ext cx="7094220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78965" y="2651912"/>
            <a:ext cx="9434068" cy="1702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6939" y="6465214"/>
            <a:ext cx="76453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1</a:t>
            </a:r>
            <a:r>
              <a:rPr spc="5" dirty="0"/>
              <a:t>8</a:t>
            </a:r>
            <a:r>
              <a:rPr dirty="0"/>
              <a:t>/1</a:t>
            </a:r>
            <a:r>
              <a:rPr spc="5" dirty="0"/>
              <a:t>2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17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828530" y="6465214"/>
            <a:ext cx="30987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://www.mathisintheair.org/wp/2015/12/qualche-osservazione-sui-limiti-delluso-dei-big-data/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hyperlink" Target="https://creativecommons.org/licenses/by-nc-sa/3.0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13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12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diagramQuickStyle" Target="../diagrams/quickStyle1.xml"/><Relationship Id="rId5" Type="http://schemas.openxmlformats.org/officeDocument/2006/relationships/image" Target="../media/image3.jpeg"/><Relationship Id="rId10" Type="http://schemas.openxmlformats.org/officeDocument/2006/relationships/diagramLayout" Target="../diagrams/layout1.xml"/><Relationship Id="rId4" Type="http://schemas.openxmlformats.org/officeDocument/2006/relationships/image" Target="../media/image5.png"/><Relationship Id="rId9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www.mathisintheair.org/wp/2015/12/qualche-osservazione-sui-limiti-delluso-dei-big-data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Relationship Id="rId9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://www.mathisintheair.org/wp/2015/12/qualche-osservazione-sui-limiti-delluso-dei-big-data/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hyperlink" Target="https://creativecommons.org/licenses/by-nc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878" y="-1"/>
            <a:ext cx="12176122" cy="2262187"/>
          </a:xfrm>
          <a:custGeom>
            <a:avLst/>
            <a:gdLst/>
            <a:ahLst/>
            <a:cxnLst/>
            <a:rect l="l" t="t" r="r" b="b"/>
            <a:pathLst>
              <a:path w="9790430" h="2158365">
                <a:moveTo>
                  <a:pt x="0" y="2157984"/>
                </a:moveTo>
                <a:lnTo>
                  <a:pt x="9790176" y="2157984"/>
                </a:lnTo>
                <a:lnTo>
                  <a:pt x="9790176" y="0"/>
                </a:lnTo>
                <a:lnTo>
                  <a:pt x="0" y="0"/>
                </a:lnTo>
                <a:lnTo>
                  <a:pt x="0" y="2157984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9306" y="2712166"/>
            <a:ext cx="1149032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5400" b="1" dirty="0">
                <a:solidFill>
                  <a:srgbClr val="0E2E44"/>
                </a:solidFill>
                <a:latin typeface="Arial"/>
                <a:cs typeface="Arial"/>
              </a:rPr>
              <a:t>DU : EPSAV-SDS (Analyse Vidéo)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2600" y="3819117"/>
            <a:ext cx="9296400" cy="18982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10000"/>
              </a:lnSpc>
              <a:spcBef>
                <a:spcPts val="105"/>
              </a:spcBef>
            </a:pPr>
            <a:r>
              <a:rPr lang="fr-FR" sz="2800" b="1" spc="-5" dirty="0">
                <a:solidFill>
                  <a:srgbClr val="FBB63D"/>
                </a:solidFill>
                <a:latin typeface="Arial"/>
                <a:cs typeface="Arial"/>
              </a:rPr>
              <a:t>Module 1 : Généralités sur les Data / Power BI en Haute Performance Sportive</a:t>
            </a:r>
          </a:p>
          <a:p>
            <a:pPr marL="12700" marR="5080" algn="ctr">
              <a:lnSpc>
                <a:spcPct val="110000"/>
              </a:lnSpc>
              <a:spcBef>
                <a:spcPts val="105"/>
              </a:spcBef>
            </a:pPr>
            <a:endParaRPr lang="fr-FR" sz="2800" b="1" spc="-5" dirty="0">
              <a:solidFill>
                <a:srgbClr val="FBB63D"/>
              </a:solidFill>
              <a:latin typeface="Arial"/>
              <a:cs typeface="Arial"/>
            </a:endParaRPr>
          </a:p>
          <a:p>
            <a:pPr marL="12700" marR="5080" algn="ctr">
              <a:lnSpc>
                <a:spcPct val="110000"/>
              </a:lnSpc>
              <a:spcBef>
                <a:spcPts val="105"/>
              </a:spcBef>
            </a:pPr>
            <a:r>
              <a:rPr lang="fr-FR" sz="2800" b="1" spc="-5" dirty="0">
                <a:solidFill>
                  <a:srgbClr val="FBB63D"/>
                </a:solidFill>
                <a:latin typeface="Arial"/>
                <a:cs typeface="Arial"/>
              </a:rPr>
              <a:t> </a:t>
            </a:r>
            <a:r>
              <a:rPr lang="fr-FR" sz="1400" b="1" spc="-5" dirty="0">
                <a:solidFill>
                  <a:srgbClr val="0D0D0D"/>
                </a:solidFill>
                <a:latin typeface="Arial"/>
                <a:cs typeface="Arial"/>
              </a:rPr>
              <a:t>01</a:t>
            </a:r>
            <a:r>
              <a:rPr sz="1400" b="1" dirty="0">
                <a:solidFill>
                  <a:srgbClr val="0D0D0D"/>
                </a:solidFill>
                <a:latin typeface="Arial"/>
                <a:cs typeface="Arial"/>
              </a:rPr>
              <a:t>/</a:t>
            </a:r>
            <a:r>
              <a:rPr lang="fr-FR" sz="1400" b="1" dirty="0">
                <a:solidFill>
                  <a:srgbClr val="0D0D0D"/>
                </a:solidFill>
                <a:latin typeface="Arial"/>
                <a:cs typeface="Arial"/>
              </a:rPr>
              <a:t>08</a:t>
            </a:r>
            <a:r>
              <a:rPr sz="1400" b="1" dirty="0">
                <a:solidFill>
                  <a:srgbClr val="0D0D0D"/>
                </a:solidFill>
                <a:latin typeface="Arial"/>
                <a:cs typeface="Arial"/>
              </a:rPr>
              <a:t>/</a:t>
            </a:r>
            <a:r>
              <a:rPr lang="fr-FR" sz="1400" b="1">
                <a:solidFill>
                  <a:srgbClr val="0D0D0D"/>
                </a:solidFill>
                <a:latin typeface="Arial"/>
                <a:cs typeface="Arial"/>
              </a:rPr>
              <a:t>2025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A0C722D-4775-1148-854E-62009BF7B6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877" y="-1"/>
            <a:ext cx="3983737" cy="2262187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4F319D9-522B-CF42-837E-807F8C07C16C}"/>
              </a:ext>
            </a:extLst>
          </p:cNvPr>
          <p:cNvSpPr txBox="1"/>
          <p:nvPr/>
        </p:nvSpPr>
        <p:spPr>
          <a:xfrm>
            <a:off x="-1646136" y="8991323"/>
            <a:ext cx="261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3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4" tooltip="https://creativecommons.org/licenses/by-nc-sa/3.0/"/>
              </a:rPr>
              <a:t>CC BY-SA-NC</a:t>
            </a:r>
            <a:endParaRPr lang="fr-FR" sz="90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CDE6C10-E7BE-2842-A07E-46902447F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3" y="14286"/>
            <a:ext cx="36068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ifdis sport ingenierie">
            <a:extLst>
              <a:ext uri="{FF2B5EF4-FFF2-40B4-BE49-F238E27FC236}">
                <a16:creationId xmlns:a16="http://schemas.microsoft.com/office/drawing/2014/main" id="{B8B9CDC9-7944-FC4A-9338-6E66A36A3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2" y="6178725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Université de Lorraine — Wikipédia">
            <a:extLst>
              <a:ext uri="{FF2B5EF4-FFF2-40B4-BE49-F238E27FC236}">
                <a16:creationId xmlns:a16="http://schemas.microsoft.com/office/drawing/2014/main" id="{87AD3C3B-0490-2347-82E7-05F841505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64" y="6174000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BA191E-59B9-615E-609A-2150B9BDCA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614" y="0"/>
            <a:ext cx="4553831" cy="22621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26213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Tour de table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2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pic>
        <p:nvPicPr>
          <p:cNvPr id="2050" name="Picture 2" descr="En début de réunion, mieux vaut un tour de table complet. Pourquoi ? —  Groupe Gérard Carton">
            <a:extLst>
              <a:ext uri="{FF2B5EF4-FFF2-40B4-BE49-F238E27FC236}">
                <a16:creationId xmlns:a16="http://schemas.microsoft.com/office/drawing/2014/main" id="{F45DD644-1FA0-7142-9375-550CCE7C3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7" y="1640385"/>
            <a:ext cx="8344215" cy="32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Sommaire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lang="fr-FR"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3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C7F83670-0F8D-8B43-9DFD-EBD20E5EB7F0}"/>
              </a:ext>
            </a:extLst>
          </p:cNvPr>
          <p:cNvSpPr txBox="1"/>
          <p:nvPr/>
        </p:nvSpPr>
        <p:spPr>
          <a:xfrm>
            <a:off x="1871471" y="1069513"/>
            <a:ext cx="7879144" cy="476733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highlight>
                  <a:srgbClr val="00FFFF"/>
                </a:highlight>
                <a:latin typeface="Arial"/>
                <a:cs typeface="Arial"/>
              </a:rPr>
              <a:t>Généralités sur les Data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highlight>
                  <a:srgbClr val="00FFFF"/>
                </a:highlight>
                <a:latin typeface="Arial"/>
                <a:cs typeface="Arial"/>
              </a:rPr>
              <a:t>Data Business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highlight>
                  <a:srgbClr val="00FFFF"/>
                </a:highlight>
                <a:latin typeface="Arial"/>
                <a:cs typeface="Arial"/>
              </a:rPr>
              <a:t>Data Sport</a:t>
            </a:r>
          </a:p>
          <a:p>
            <a:pPr marL="355600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 err="1">
                <a:highlight>
                  <a:srgbClr val="00FFFF"/>
                </a:highlight>
                <a:latin typeface="Arial"/>
                <a:cs typeface="Arial"/>
              </a:rPr>
              <a:t>DataSet</a:t>
            </a:r>
            <a:r>
              <a:rPr lang="fr-FR" sz="2000" b="1" spc="-5" dirty="0">
                <a:highlight>
                  <a:srgbClr val="00FFFF"/>
                </a:highlight>
                <a:latin typeface="Arial"/>
                <a:cs typeface="Arial"/>
              </a:rPr>
              <a:t> (Haute Performance Sportive)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highlight>
                  <a:srgbClr val="00FFFF"/>
                </a:highlight>
                <a:latin typeface="Arial"/>
                <a:cs typeface="Arial"/>
              </a:rPr>
              <a:t>Définition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highlight>
                  <a:srgbClr val="00FFFF"/>
                </a:highlight>
                <a:latin typeface="Arial"/>
                <a:cs typeface="Arial"/>
              </a:rPr>
              <a:t>Analyse Vidéo</a:t>
            </a:r>
          </a:p>
          <a:p>
            <a:pPr marL="355600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 err="1">
                <a:highlight>
                  <a:srgbClr val="00FFFF"/>
                </a:highlight>
                <a:latin typeface="Arial"/>
                <a:cs typeface="Arial"/>
              </a:rPr>
              <a:t>PowerBI</a:t>
            </a:r>
            <a:r>
              <a:rPr lang="fr-FR" sz="2000" b="1" spc="-5" dirty="0">
                <a:highlight>
                  <a:srgbClr val="00FFFF"/>
                </a:highlight>
                <a:latin typeface="Arial"/>
                <a:cs typeface="Arial"/>
              </a:rPr>
              <a:t> (Haute Performance Sportive)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highlight>
                  <a:srgbClr val="00FFFF"/>
                </a:highlight>
                <a:latin typeface="Arial"/>
                <a:cs typeface="Arial"/>
              </a:rPr>
              <a:t>Benchmark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highlight>
                  <a:srgbClr val="00FFFF"/>
                </a:highlight>
                <a:latin typeface="Arial"/>
                <a:cs typeface="Arial"/>
              </a:rPr>
              <a:t>Mode emploi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highlight>
                  <a:srgbClr val="00FFFF"/>
                </a:highlight>
                <a:latin typeface="Arial"/>
                <a:cs typeface="Arial"/>
              </a:rPr>
              <a:t>Démo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Bases Statistiques (Haute Performance Sportive)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Data Science (Haute Performance Sportive)</a:t>
            </a:r>
          </a:p>
        </p:txBody>
      </p:sp>
    </p:spTree>
    <p:extLst>
      <p:ext uri="{BB962C8B-B14F-4D97-AF65-F5344CB8AC3E}">
        <p14:creationId xmlns:p14="http://schemas.microsoft.com/office/powerpoint/2010/main" val="350974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Généralités sur les Data (BI)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4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E8AB99AD-C930-1123-FC04-8C616AF4099D}"/>
              </a:ext>
            </a:extLst>
          </p:cNvPr>
          <p:cNvSpPr txBox="1"/>
          <p:nvPr/>
        </p:nvSpPr>
        <p:spPr>
          <a:xfrm>
            <a:off x="1215440" y="1702069"/>
            <a:ext cx="9761119" cy="29976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latin typeface="Arial"/>
                <a:cs typeface="Arial"/>
              </a:rPr>
              <a:t>Business Intelligence (Informatique Décisionnelle) </a:t>
            </a:r>
            <a:r>
              <a:rPr lang="fr-FR" sz="2000" spc="-5" dirty="0">
                <a:latin typeface="Arial"/>
                <a:cs typeface="Arial"/>
              </a:rPr>
              <a:t>: Un ensemble de processus, de technologie, de compétences et d’applications utilisés  pour transmettre des informations pertinentes aux responsables et aux managers dans la société(*)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endParaRPr lang="fr-FR" sz="2000" spc="-5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latin typeface="Arial"/>
                <a:cs typeface="Arial"/>
              </a:rPr>
              <a:t>Objectif </a:t>
            </a:r>
            <a:r>
              <a:rPr lang="fr-FR" sz="2000" spc="-5" dirty="0">
                <a:latin typeface="Arial"/>
                <a:cs typeface="Arial"/>
              </a:rPr>
              <a:t>: 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Faciliter la prise de décision au sein de l’entreprise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Orienter le développement des futures activités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Transmettre la bonne information aux bonnes personnes</a:t>
            </a:r>
          </a:p>
        </p:txBody>
      </p:sp>
    </p:spTree>
    <p:extLst>
      <p:ext uri="{BB962C8B-B14F-4D97-AF65-F5344CB8AC3E}">
        <p14:creationId xmlns:p14="http://schemas.microsoft.com/office/powerpoint/2010/main" val="3383848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Généralités sur les Data (BI)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5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E8AB99AD-C930-1123-FC04-8C616AF4099D}"/>
              </a:ext>
            </a:extLst>
          </p:cNvPr>
          <p:cNvSpPr txBox="1"/>
          <p:nvPr/>
        </p:nvSpPr>
        <p:spPr>
          <a:xfrm>
            <a:off x="1215440" y="1156323"/>
            <a:ext cx="9761119" cy="277960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latin typeface="Arial"/>
                <a:cs typeface="Arial"/>
              </a:rPr>
              <a:t>Fonctionnement </a:t>
            </a:r>
            <a:r>
              <a:rPr lang="fr-FR" sz="2000" spc="-5" dirty="0">
                <a:latin typeface="Arial"/>
                <a:cs typeface="Arial"/>
              </a:rPr>
              <a:t>: 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Collecte de la donnée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Mise en conformité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Contrôle de qualité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Stockage dans un référentiel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Distribution aux différentes parties prenantes </a:t>
            </a:r>
          </a:p>
          <a:p>
            <a:pPr marL="812800" lvl="1" indent="-342900">
              <a:spcBef>
                <a:spcPts val="675"/>
              </a:spcBef>
              <a:buFont typeface="Wingdings" pitchFamily="2" charset="2"/>
              <a:buChar char="q"/>
            </a:pPr>
            <a:endParaRPr lang="fr-FR" sz="2000" spc="-5" dirty="0">
              <a:latin typeface="Arial"/>
              <a:cs typeface="Arial"/>
            </a:endParaRPr>
          </a:p>
        </p:txBody>
      </p:sp>
      <p:graphicFrame>
        <p:nvGraphicFramePr>
          <p:cNvPr id="8" name="Diagramme 2">
            <a:extLst>
              <a:ext uri="{FF2B5EF4-FFF2-40B4-BE49-F238E27FC236}">
                <a16:creationId xmlns:a16="http://schemas.microsoft.com/office/drawing/2014/main" id="{9F93A5D7-4FAE-CEE5-ED1E-F9F79BF1D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2776740"/>
              </p:ext>
            </p:extLst>
          </p:nvPr>
        </p:nvGraphicFramePr>
        <p:xfrm>
          <a:off x="2590800" y="3777419"/>
          <a:ext cx="6720417" cy="14446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666189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Généralités sur les Data (Data Sport)</a:t>
            </a:r>
            <a:endParaRPr sz="25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6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E8AB99AD-C930-1123-FC04-8C616AF4099D}"/>
              </a:ext>
            </a:extLst>
          </p:cNvPr>
          <p:cNvSpPr txBox="1"/>
          <p:nvPr/>
        </p:nvSpPr>
        <p:spPr>
          <a:xfrm>
            <a:off x="789283" y="1376140"/>
            <a:ext cx="9573917" cy="357469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b="1" spc="-5" dirty="0" err="1">
                <a:latin typeface="Arial"/>
                <a:cs typeface="Arial"/>
              </a:rPr>
              <a:t>Montres</a:t>
            </a:r>
            <a:r>
              <a:rPr lang="en-GB" sz="2000" b="1" spc="-5" dirty="0">
                <a:latin typeface="Arial"/>
                <a:cs typeface="Arial"/>
              </a:rPr>
              <a:t> GPS et </a:t>
            </a:r>
            <a:r>
              <a:rPr lang="en-GB" sz="2000" b="1" spc="-5" dirty="0" err="1">
                <a:latin typeface="Arial"/>
                <a:cs typeface="Arial"/>
              </a:rPr>
              <a:t>Capteurs</a:t>
            </a:r>
            <a:r>
              <a:rPr lang="en-GB" sz="2000" b="1" spc="-5" dirty="0">
                <a:latin typeface="Arial"/>
                <a:cs typeface="Arial"/>
              </a:rPr>
              <a:t> de </a:t>
            </a:r>
            <a:r>
              <a:rPr lang="en-GB" sz="2000" b="1" spc="-5" dirty="0" err="1">
                <a:latin typeface="Arial"/>
                <a:cs typeface="Arial"/>
              </a:rPr>
              <a:t>Fréquence</a:t>
            </a:r>
            <a:r>
              <a:rPr lang="en-GB" sz="2000" b="1" spc="-5" dirty="0">
                <a:latin typeface="Arial"/>
                <a:cs typeface="Arial"/>
              </a:rPr>
              <a:t> </a:t>
            </a:r>
            <a:r>
              <a:rPr lang="en-GB" sz="2000" b="1" spc="-5" dirty="0" err="1">
                <a:latin typeface="Arial"/>
                <a:cs typeface="Arial"/>
              </a:rPr>
              <a:t>Cardiaque</a:t>
            </a:r>
            <a:endParaRPr lang="en-GB" sz="2000" b="1" spc="-5" dirty="0">
              <a:latin typeface="Arial"/>
              <a:cs typeface="Arial"/>
            </a:endParaRPr>
          </a:p>
          <a:p>
            <a:pPr marL="1270000" lvl="2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spc="-5" dirty="0">
                <a:latin typeface="Arial"/>
                <a:cs typeface="Arial"/>
              </a:rPr>
              <a:t>Garmin</a:t>
            </a:r>
          </a:p>
          <a:p>
            <a:pPr marL="1270000" lvl="2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spc="-5" dirty="0">
                <a:latin typeface="Arial"/>
                <a:cs typeface="Arial"/>
              </a:rPr>
              <a:t>Polar</a:t>
            </a:r>
          </a:p>
          <a:p>
            <a:pPr marL="1270000" lvl="2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spc="-5" dirty="0" err="1">
                <a:latin typeface="Arial"/>
                <a:cs typeface="Arial"/>
              </a:rPr>
              <a:t>Suunto</a:t>
            </a:r>
            <a:endParaRPr lang="en-GB" sz="2000" spc="-5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endParaRPr lang="en-GB" sz="2000" b="1" spc="-5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b="1" spc="-5" dirty="0" err="1">
                <a:latin typeface="Arial"/>
                <a:cs typeface="Arial"/>
              </a:rPr>
              <a:t>Podomètres</a:t>
            </a:r>
            <a:r>
              <a:rPr lang="en-GB" sz="2000" b="1" spc="-5" dirty="0">
                <a:latin typeface="Arial"/>
                <a:cs typeface="Arial"/>
              </a:rPr>
              <a:t> et </a:t>
            </a:r>
            <a:r>
              <a:rPr lang="en-GB" sz="2000" b="1" spc="-5" dirty="0" err="1">
                <a:latin typeface="Arial"/>
                <a:cs typeface="Arial"/>
              </a:rPr>
              <a:t>Accéléromètres</a:t>
            </a:r>
            <a:endParaRPr lang="en-GB" sz="2000" b="1" spc="-5" dirty="0">
              <a:latin typeface="Arial"/>
              <a:cs typeface="Arial"/>
            </a:endParaRPr>
          </a:p>
          <a:p>
            <a:pPr marL="1270000" lvl="2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spc="-5" dirty="0">
                <a:latin typeface="Arial"/>
                <a:cs typeface="Arial"/>
              </a:rPr>
              <a:t>Fitbit</a:t>
            </a:r>
          </a:p>
          <a:p>
            <a:pPr marL="1270000" lvl="2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spc="-5" dirty="0">
                <a:latin typeface="Arial"/>
                <a:cs typeface="Arial"/>
              </a:rPr>
              <a:t>WHOOP</a:t>
            </a:r>
          </a:p>
          <a:p>
            <a:pPr marL="1270000" lvl="2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spc="-5" dirty="0">
                <a:latin typeface="Arial"/>
                <a:cs typeface="Arial"/>
              </a:rPr>
              <a:t>Oura Ring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45A8E68-99DA-0959-A4BC-FE7A718D486E}"/>
              </a:ext>
            </a:extLst>
          </p:cNvPr>
          <p:cNvSpPr/>
          <p:nvPr/>
        </p:nvSpPr>
        <p:spPr>
          <a:xfrm>
            <a:off x="7848600" y="990599"/>
            <a:ext cx="762000" cy="4803287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B149BF-3AE5-09B2-FB40-F1BAA1974B99}"/>
              </a:ext>
            </a:extLst>
          </p:cNvPr>
          <p:cNvSpPr txBox="1"/>
          <p:nvPr/>
        </p:nvSpPr>
        <p:spPr>
          <a:xfrm>
            <a:off x="8960328" y="2846102"/>
            <a:ext cx="15068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spc="-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lang="fr-FR" sz="1800" b="1" spc="-5" dirty="0">
                <a:solidFill>
                  <a:srgbClr val="FF0000"/>
                </a:solidFill>
                <a:latin typeface="Arial"/>
                <a:cs typeface="Arial"/>
              </a:rPr>
              <a:t>iste </a:t>
            </a:r>
          </a:p>
          <a:p>
            <a:r>
              <a:rPr lang="fr-FR" sz="1800" b="1" spc="-5" dirty="0">
                <a:solidFill>
                  <a:srgbClr val="FF0000"/>
                </a:solidFill>
                <a:latin typeface="Arial"/>
                <a:cs typeface="Arial"/>
              </a:rPr>
              <a:t>non </a:t>
            </a:r>
          </a:p>
          <a:p>
            <a:r>
              <a:rPr lang="fr-FR" sz="1800" b="1" spc="-5" dirty="0">
                <a:solidFill>
                  <a:srgbClr val="FF0000"/>
                </a:solidFill>
                <a:latin typeface="Arial"/>
                <a:cs typeface="Arial"/>
              </a:rPr>
              <a:t>exhaustive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338626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Généralités sur les Data (Data Sport)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7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E8AB99AD-C930-1123-FC04-8C616AF4099D}"/>
              </a:ext>
            </a:extLst>
          </p:cNvPr>
          <p:cNvSpPr txBox="1"/>
          <p:nvPr/>
        </p:nvSpPr>
        <p:spPr>
          <a:xfrm>
            <a:off x="789283" y="1376140"/>
            <a:ext cx="9573917" cy="317715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b="1" spc="-5" dirty="0" err="1">
                <a:latin typeface="Arial"/>
                <a:cs typeface="Arial"/>
              </a:rPr>
              <a:t>Systèmes</a:t>
            </a:r>
            <a:r>
              <a:rPr lang="en-GB" sz="2000" b="1" spc="-5" dirty="0">
                <a:latin typeface="Arial"/>
                <a:cs typeface="Arial"/>
              </a:rPr>
              <a:t> de Tracking </a:t>
            </a:r>
            <a:r>
              <a:rPr lang="en-GB" sz="2000" b="1" spc="-5" dirty="0" err="1">
                <a:latin typeface="Arial"/>
                <a:cs typeface="Arial"/>
              </a:rPr>
              <a:t>Vidéo</a:t>
            </a:r>
            <a:endParaRPr lang="en-GB" sz="2000" b="1" spc="-5" dirty="0">
              <a:latin typeface="Arial"/>
              <a:cs typeface="Arial"/>
            </a:endParaRPr>
          </a:p>
          <a:p>
            <a:pPr marL="1270000" lvl="2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spc="-5" dirty="0">
                <a:latin typeface="Arial"/>
                <a:cs typeface="Arial"/>
              </a:rPr>
              <a:t>Dartfish</a:t>
            </a:r>
          </a:p>
          <a:p>
            <a:pPr marL="1270000" lvl="2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spc="-5" dirty="0">
                <a:latin typeface="Arial"/>
                <a:cs typeface="Arial"/>
              </a:rPr>
              <a:t>Hawk-Eye</a:t>
            </a:r>
          </a:p>
          <a:p>
            <a:pPr marL="1270000" lvl="2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spc="-5" dirty="0">
                <a:latin typeface="Arial"/>
                <a:cs typeface="Arial"/>
              </a:rPr>
              <a:t>Vicon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endParaRPr lang="en-GB" sz="2000" b="1" spc="-5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b="1" spc="-5" dirty="0" err="1">
                <a:latin typeface="Arial"/>
                <a:cs typeface="Arial"/>
              </a:rPr>
              <a:t>Caméras</a:t>
            </a:r>
            <a:r>
              <a:rPr lang="en-GB" sz="2000" b="1" spc="-5" dirty="0">
                <a:latin typeface="Arial"/>
                <a:cs typeface="Arial"/>
              </a:rPr>
              <a:t> Haute Vitesse et </a:t>
            </a:r>
            <a:r>
              <a:rPr lang="en-GB" sz="2000" b="1" spc="-5" dirty="0" err="1">
                <a:latin typeface="Arial"/>
                <a:cs typeface="Arial"/>
              </a:rPr>
              <a:t>Caméras</a:t>
            </a:r>
            <a:r>
              <a:rPr lang="en-GB" sz="2000" b="1" spc="-5" dirty="0">
                <a:latin typeface="Arial"/>
                <a:cs typeface="Arial"/>
              </a:rPr>
              <a:t> 360°</a:t>
            </a:r>
          </a:p>
          <a:p>
            <a:pPr marL="1270000" lvl="2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spc="-5" dirty="0">
                <a:latin typeface="Arial"/>
                <a:cs typeface="Arial"/>
              </a:rPr>
              <a:t>GoPro</a:t>
            </a:r>
          </a:p>
          <a:p>
            <a:pPr marL="1270000" lvl="2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spc="-5" dirty="0">
                <a:latin typeface="Arial"/>
                <a:cs typeface="Arial"/>
              </a:rPr>
              <a:t>Sony Action Cam</a:t>
            </a:r>
            <a:endParaRPr lang="fr-FR" sz="2000" spc="-5" dirty="0">
              <a:latin typeface="Arial"/>
              <a:cs typeface="Arial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8D36B71A-E856-CF8A-22AC-73F7FE57FA03}"/>
              </a:ext>
            </a:extLst>
          </p:cNvPr>
          <p:cNvSpPr/>
          <p:nvPr/>
        </p:nvSpPr>
        <p:spPr>
          <a:xfrm>
            <a:off x="7848600" y="990599"/>
            <a:ext cx="762000" cy="4803287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1BDB4E-7DF9-4670-49DE-E284547E322C}"/>
              </a:ext>
            </a:extLst>
          </p:cNvPr>
          <p:cNvSpPr txBox="1"/>
          <p:nvPr/>
        </p:nvSpPr>
        <p:spPr>
          <a:xfrm>
            <a:off x="8960328" y="2846102"/>
            <a:ext cx="15068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spc="-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lang="fr-FR" sz="1800" b="1" spc="-5" dirty="0">
                <a:solidFill>
                  <a:srgbClr val="FF0000"/>
                </a:solidFill>
                <a:latin typeface="Arial"/>
                <a:cs typeface="Arial"/>
              </a:rPr>
              <a:t>iste </a:t>
            </a:r>
          </a:p>
          <a:p>
            <a:r>
              <a:rPr lang="fr-FR" sz="1800" b="1" spc="-5" dirty="0">
                <a:solidFill>
                  <a:srgbClr val="FF0000"/>
                </a:solidFill>
                <a:latin typeface="Arial"/>
                <a:cs typeface="Arial"/>
              </a:rPr>
              <a:t>non </a:t>
            </a:r>
          </a:p>
          <a:p>
            <a:r>
              <a:rPr lang="fr-FR" sz="1800" b="1" spc="-5" dirty="0">
                <a:solidFill>
                  <a:srgbClr val="FF0000"/>
                </a:solidFill>
                <a:latin typeface="Arial"/>
                <a:cs typeface="Arial"/>
              </a:rPr>
              <a:t>exhaustive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3702579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Généralités sur les Data (Data Sport)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8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E8AB99AD-C930-1123-FC04-8C616AF4099D}"/>
              </a:ext>
            </a:extLst>
          </p:cNvPr>
          <p:cNvSpPr txBox="1"/>
          <p:nvPr/>
        </p:nvSpPr>
        <p:spPr>
          <a:xfrm>
            <a:off x="981434" y="1641848"/>
            <a:ext cx="9573917" cy="198451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u="sng" spc="-5" dirty="0">
                <a:latin typeface="Arial"/>
                <a:cs typeface="Arial"/>
              </a:rPr>
              <a:t>Collecte de la donnée (Ex : vélo connecté) :</a:t>
            </a:r>
          </a:p>
          <a:p>
            <a:pPr marL="1727200" lvl="3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Compteurs</a:t>
            </a:r>
          </a:p>
          <a:p>
            <a:pPr marL="1727200" lvl="3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Radars</a:t>
            </a:r>
          </a:p>
          <a:p>
            <a:pPr marL="1727200" lvl="3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GPS</a:t>
            </a:r>
          </a:p>
          <a:p>
            <a:pPr marL="1727200" lvl="3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Capteur de puissance 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74D2684-E2B5-F600-CAE8-98F36D24F3C3}"/>
              </a:ext>
            </a:extLst>
          </p:cNvPr>
          <p:cNvSpPr/>
          <p:nvPr/>
        </p:nvSpPr>
        <p:spPr>
          <a:xfrm>
            <a:off x="7848600" y="990599"/>
            <a:ext cx="762000" cy="4803287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778101-07BB-9CA9-0942-7E92871CCD94}"/>
              </a:ext>
            </a:extLst>
          </p:cNvPr>
          <p:cNvSpPr txBox="1"/>
          <p:nvPr/>
        </p:nvSpPr>
        <p:spPr>
          <a:xfrm>
            <a:off x="8960328" y="2846102"/>
            <a:ext cx="15068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spc="-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lang="fr-FR" sz="1800" b="1" spc="-5" dirty="0">
                <a:solidFill>
                  <a:srgbClr val="FF0000"/>
                </a:solidFill>
                <a:latin typeface="Arial"/>
                <a:cs typeface="Arial"/>
              </a:rPr>
              <a:t>iste </a:t>
            </a:r>
          </a:p>
          <a:p>
            <a:r>
              <a:rPr lang="fr-FR" sz="1800" b="1" spc="-5" dirty="0">
                <a:solidFill>
                  <a:srgbClr val="FF0000"/>
                </a:solidFill>
                <a:latin typeface="Arial"/>
                <a:cs typeface="Arial"/>
              </a:rPr>
              <a:t>non </a:t>
            </a:r>
          </a:p>
          <a:p>
            <a:r>
              <a:rPr lang="fr-FR" sz="1800" b="1" spc="-5" dirty="0">
                <a:solidFill>
                  <a:srgbClr val="FF0000"/>
                </a:solidFill>
                <a:latin typeface="Arial"/>
                <a:cs typeface="Arial"/>
              </a:rPr>
              <a:t>exhaustive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3524503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Généralités sur les Data (Data Sport)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9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E8AB99AD-C930-1123-FC04-8C616AF4099D}"/>
              </a:ext>
            </a:extLst>
          </p:cNvPr>
          <p:cNvSpPr txBox="1"/>
          <p:nvPr/>
        </p:nvSpPr>
        <p:spPr>
          <a:xfrm>
            <a:off x="981434" y="1641848"/>
            <a:ext cx="9573917" cy="118942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u="sng" spc="-5" dirty="0">
                <a:latin typeface="Arial"/>
                <a:cs typeface="Arial"/>
              </a:rPr>
              <a:t>Stockage (Cloud / Base de données, …) :</a:t>
            </a:r>
          </a:p>
          <a:p>
            <a:pPr marL="1727200" lvl="3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Garmin </a:t>
            </a:r>
            <a:r>
              <a:rPr lang="fr-FR" sz="2000" spc="-5" dirty="0" err="1">
                <a:latin typeface="Arial"/>
                <a:cs typeface="Arial"/>
              </a:rPr>
              <a:t>connect</a:t>
            </a:r>
            <a:r>
              <a:rPr lang="fr-FR" sz="2000" spc="-5" dirty="0">
                <a:latin typeface="Arial"/>
                <a:cs typeface="Arial"/>
              </a:rPr>
              <a:t> </a:t>
            </a:r>
          </a:p>
          <a:p>
            <a:pPr marL="1727200" lvl="3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>
                <a:latin typeface="Arial"/>
                <a:cs typeface="Arial"/>
              </a:rPr>
              <a:t>Dartfish</a:t>
            </a:r>
            <a:r>
              <a:rPr lang="fr-FR" sz="2000" spc="-5" dirty="0">
                <a:latin typeface="Arial"/>
                <a:cs typeface="Arial"/>
              </a:rPr>
              <a:t> (Power BI)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2517E-BAF5-554B-CEEF-46238D94C7DE}"/>
              </a:ext>
            </a:extLst>
          </p:cNvPr>
          <p:cNvSpPr txBox="1"/>
          <p:nvPr/>
        </p:nvSpPr>
        <p:spPr>
          <a:xfrm>
            <a:off x="8960328" y="2846102"/>
            <a:ext cx="15068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spc="-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lang="fr-FR" sz="1800" b="1" spc="-5" dirty="0">
                <a:solidFill>
                  <a:srgbClr val="FF0000"/>
                </a:solidFill>
                <a:latin typeface="Arial"/>
                <a:cs typeface="Arial"/>
              </a:rPr>
              <a:t>iste </a:t>
            </a:r>
          </a:p>
          <a:p>
            <a:r>
              <a:rPr lang="fr-FR" sz="1800" b="1" spc="-5" dirty="0">
                <a:solidFill>
                  <a:srgbClr val="FF0000"/>
                </a:solidFill>
                <a:latin typeface="Arial"/>
                <a:cs typeface="Arial"/>
              </a:rPr>
              <a:t>non </a:t>
            </a:r>
          </a:p>
          <a:p>
            <a:r>
              <a:rPr lang="fr-FR" sz="1800" b="1" spc="-5" dirty="0">
                <a:solidFill>
                  <a:srgbClr val="FF0000"/>
                </a:solidFill>
                <a:latin typeface="Arial"/>
                <a:cs typeface="Arial"/>
              </a:rPr>
              <a:t>exhaustive</a:t>
            </a:r>
            <a:endParaRPr lang="en-FR" dirty="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20941FB7-5386-8476-4B50-4495BB82C796}"/>
              </a:ext>
            </a:extLst>
          </p:cNvPr>
          <p:cNvSpPr/>
          <p:nvPr/>
        </p:nvSpPr>
        <p:spPr>
          <a:xfrm>
            <a:off x="7848600" y="990599"/>
            <a:ext cx="762000" cy="4803287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90622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24243"/>
            <a:ext cx="12192000" cy="334010"/>
            <a:chOff x="0" y="6524243"/>
            <a:chExt cx="12192000" cy="334010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01406" y="6524243"/>
              <a:ext cx="248406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Généralités sur les Data (Data Sport)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10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E8AB99AD-C930-1123-FC04-8C616AF4099D}"/>
              </a:ext>
            </a:extLst>
          </p:cNvPr>
          <p:cNvSpPr txBox="1"/>
          <p:nvPr/>
        </p:nvSpPr>
        <p:spPr>
          <a:xfrm>
            <a:off x="981434" y="1641848"/>
            <a:ext cx="9573917" cy="118942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u="sng" spc="-5" dirty="0">
                <a:latin typeface="Arial"/>
                <a:cs typeface="Arial"/>
              </a:rPr>
              <a:t>Partage des données / Insights / KPI :</a:t>
            </a:r>
          </a:p>
          <a:p>
            <a:pPr marL="1727200" lvl="3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Tableau de bord</a:t>
            </a:r>
          </a:p>
          <a:p>
            <a:pPr marL="1727200" lvl="3" indent="-342900"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latin typeface="Arial"/>
                <a:cs typeface="Arial"/>
              </a:rPr>
              <a:t>Tableau d’indicateurs (KPI)</a:t>
            </a:r>
          </a:p>
        </p:txBody>
      </p:sp>
      <p:sp>
        <p:nvSpPr>
          <p:cNvPr id="14" name="Shape 441">
            <a:extLst>
              <a:ext uri="{FF2B5EF4-FFF2-40B4-BE49-F238E27FC236}">
                <a16:creationId xmlns:a16="http://schemas.microsoft.com/office/drawing/2014/main" id="{374419DD-6175-A408-520A-9E4DD2391202}"/>
              </a:ext>
            </a:extLst>
          </p:cNvPr>
          <p:cNvSpPr/>
          <p:nvPr/>
        </p:nvSpPr>
        <p:spPr>
          <a:xfrm>
            <a:off x="8077200" y="1641848"/>
            <a:ext cx="2554351" cy="3275511"/>
          </a:xfrm>
          <a:prstGeom prst="roundRect">
            <a:avLst>
              <a:gd name="adj" fmla="val 16667"/>
            </a:avLst>
          </a:prstGeom>
          <a:solidFill>
            <a:schemeClr val="lt1">
              <a:alpha val="40000"/>
            </a:schemeClr>
          </a:solidFill>
          <a:ln w="25400" cap="flat" cmpd="sng">
            <a:solidFill>
              <a:schemeClr val="dk1">
                <a:alpha val="8588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Shape 443">
            <a:extLst>
              <a:ext uri="{FF2B5EF4-FFF2-40B4-BE49-F238E27FC236}">
                <a16:creationId xmlns:a16="http://schemas.microsoft.com/office/drawing/2014/main" id="{4C5CC4BE-FA6C-A4F3-22D5-28EF5627A3A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8200" y="1877987"/>
            <a:ext cx="1792350" cy="1189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Shape 444">
            <a:extLst>
              <a:ext uri="{FF2B5EF4-FFF2-40B4-BE49-F238E27FC236}">
                <a16:creationId xmlns:a16="http://schemas.microsoft.com/office/drawing/2014/main" id="{B683F6D9-DCFC-B462-A9A2-49198331A56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58198" y="3303554"/>
            <a:ext cx="1792351" cy="13446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2693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 err="1">
                <a:latin typeface="Arial"/>
                <a:cs typeface="Arial"/>
              </a:rPr>
              <a:t>DataSet</a:t>
            </a:r>
            <a:r>
              <a:rPr lang="fr-FR" sz="2500" b="1" spc="-5" dirty="0">
                <a:latin typeface="Arial"/>
                <a:cs typeface="Arial"/>
              </a:rPr>
              <a:t> (Haute Performance Sportive)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11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184643B-63DD-33F0-496F-16A7D4F3FB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7922747"/>
              </p:ext>
            </p:extLst>
          </p:nvPr>
        </p:nvGraphicFramePr>
        <p:xfrm>
          <a:off x="304800" y="1778977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175251024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7798226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1881084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63517835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6426351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41039728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FR" dirty="0"/>
                        <a:t>DataSet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747280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FR" dirty="0"/>
                        <a:t>Facteurs (Features)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dirty="0"/>
                        <a:t>Cible (Target)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</a:t>
                      </a:r>
                      <a:r>
                        <a:rPr lang="en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</a:t>
                      </a:r>
                      <a:r>
                        <a:rPr lang="en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dirty="0"/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dirty="0"/>
                        <a:t>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01732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4DCB324-A88E-C953-3EB6-70AEFB5F02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238" y="3429000"/>
            <a:ext cx="4140200" cy="939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7514B2-E508-D33C-613F-19523B9DBD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0" y="3378200"/>
            <a:ext cx="2082800" cy="1041400"/>
          </a:xfrm>
          <a:prstGeom prst="rect">
            <a:avLst/>
          </a:prstGeom>
        </p:spPr>
      </p:pic>
      <p:sp>
        <p:nvSpPr>
          <p:cNvPr id="13" name="object 8">
            <a:extLst>
              <a:ext uri="{FF2B5EF4-FFF2-40B4-BE49-F238E27FC236}">
                <a16:creationId xmlns:a16="http://schemas.microsoft.com/office/drawing/2014/main" id="{47C42104-E6CB-53E1-D8C7-F0443006EA79}"/>
              </a:ext>
            </a:extLst>
          </p:cNvPr>
          <p:cNvSpPr txBox="1"/>
          <p:nvPr/>
        </p:nvSpPr>
        <p:spPr>
          <a:xfrm>
            <a:off x="304800" y="876360"/>
            <a:ext cx="11110690" cy="382156"/>
          </a:xfrm>
          <a:prstGeom prst="rect">
            <a:avLst/>
          </a:prstGeom>
          <a:ln>
            <a:gradFill>
              <a:gsLst>
                <a:gs pos="37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vert="horz" wrap="square" lIns="0" tIns="12700" rIns="0" bIns="0" rtlCol="0">
            <a:spAutoFit/>
          </a:bodyPr>
          <a:lstStyle/>
          <a:p>
            <a:pPr marL="12065" algn="just">
              <a:spcBef>
                <a:spcPts val="100"/>
              </a:spcBef>
              <a:tabLst>
                <a:tab pos="299085" algn="l"/>
                <a:tab pos="299720" algn="l"/>
              </a:tabLst>
            </a:pPr>
            <a:r>
              <a:rPr lang="fr-FR" sz="2400" b="1" u="sng" dirty="0"/>
              <a:t>Modélisation (Qu’est </a:t>
            </a:r>
            <a:r>
              <a:rPr lang="fr-FR" sz="2400" b="1" u="sng"/>
              <a:t>ce qu’un </a:t>
            </a:r>
            <a:r>
              <a:rPr lang="fr-FR" sz="2400" b="1" u="sng" dirty="0" err="1"/>
              <a:t>DataSet</a:t>
            </a:r>
            <a:r>
              <a:rPr lang="fr-FR" sz="2400" b="1" u="sng" dirty="0"/>
              <a:t>?)</a:t>
            </a:r>
          </a:p>
        </p:txBody>
      </p:sp>
    </p:spTree>
    <p:extLst>
      <p:ext uri="{BB962C8B-B14F-4D97-AF65-F5344CB8AC3E}">
        <p14:creationId xmlns:p14="http://schemas.microsoft.com/office/powerpoint/2010/main" val="490665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 err="1">
                <a:latin typeface="Arial"/>
                <a:cs typeface="Arial"/>
              </a:rPr>
              <a:t>DataSet</a:t>
            </a:r>
            <a:r>
              <a:rPr lang="fr-FR" sz="2500" b="1" spc="-5" dirty="0">
                <a:latin typeface="Arial"/>
                <a:cs typeface="Arial"/>
              </a:rPr>
              <a:t> (Haute Performance Sportive)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12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542FE4-320E-5C45-2757-682E51FC0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840184"/>
              </p:ext>
            </p:extLst>
          </p:nvPr>
        </p:nvGraphicFramePr>
        <p:xfrm>
          <a:off x="1293307" y="2681657"/>
          <a:ext cx="9432925" cy="992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7736">
                  <a:extLst>
                    <a:ext uri="{9D8B030D-6E8A-4147-A177-3AD203B41FA5}">
                      <a16:colId xmlns:a16="http://schemas.microsoft.com/office/drawing/2014/main" val="227157988"/>
                    </a:ext>
                  </a:extLst>
                </a:gridCol>
                <a:gridCol w="819265">
                  <a:extLst>
                    <a:ext uri="{9D8B030D-6E8A-4147-A177-3AD203B41FA5}">
                      <a16:colId xmlns:a16="http://schemas.microsoft.com/office/drawing/2014/main" val="540275987"/>
                    </a:ext>
                  </a:extLst>
                </a:gridCol>
                <a:gridCol w="812438">
                  <a:extLst>
                    <a:ext uri="{9D8B030D-6E8A-4147-A177-3AD203B41FA5}">
                      <a16:colId xmlns:a16="http://schemas.microsoft.com/office/drawing/2014/main" val="3191742272"/>
                    </a:ext>
                  </a:extLst>
                </a:gridCol>
                <a:gridCol w="430114">
                  <a:extLst>
                    <a:ext uri="{9D8B030D-6E8A-4147-A177-3AD203B41FA5}">
                      <a16:colId xmlns:a16="http://schemas.microsoft.com/office/drawing/2014/main" val="3929079479"/>
                    </a:ext>
                  </a:extLst>
                </a:gridCol>
                <a:gridCol w="621276">
                  <a:extLst>
                    <a:ext uri="{9D8B030D-6E8A-4147-A177-3AD203B41FA5}">
                      <a16:colId xmlns:a16="http://schemas.microsoft.com/office/drawing/2014/main" val="3219467553"/>
                    </a:ext>
                  </a:extLst>
                </a:gridCol>
                <a:gridCol w="828368">
                  <a:extLst>
                    <a:ext uri="{9D8B030D-6E8A-4147-A177-3AD203B41FA5}">
                      <a16:colId xmlns:a16="http://schemas.microsoft.com/office/drawing/2014/main" val="1673442915"/>
                    </a:ext>
                  </a:extLst>
                </a:gridCol>
                <a:gridCol w="773750">
                  <a:extLst>
                    <a:ext uri="{9D8B030D-6E8A-4147-A177-3AD203B41FA5}">
                      <a16:colId xmlns:a16="http://schemas.microsoft.com/office/drawing/2014/main" val="927059730"/>
                    </a:ext>
                  </a:extLst>
                </a:gridCol>
                <a:gridCol w="655412">
                  <a:extLst>
                    <a:ext uri="{9D8B030D-6E8A-4147-A177-3AD203B41FA5}">
                      <a16:colId xmlns:a16="http://schemas.microsoft.com/office/drawing/2014/main" val="2483207193"/>
                    </a:ext>
                  </a:extLst>
                </a:gridCol>
                <a:gridCol w="1303996">
                  <a:extLst>
                    <a:ext uri="{9D8B030D-6E8A-4147-A177-3AD203B41FA5}">
                      <a16:colId xmlns:a16="http://schemas.microsoft.com/office/drawing/2014/main" val="2011844509"/>
                    </a:ext>
                  </a:extLst>
                </a:gridCol>
                <a:gridCol w="1303996">
                  <a:extLst>
                    <a:ext uri="{9D8B030D-6E8A-4147-A177-3AD203B41FA5}">
                      <a16:colId xmlns:a16="http://schemas.microsoft.com/office/drawing/2014/main" val="4191179081"/>
                    </a:ext>
                  </a:extLst>
                </a:gridCol>
                <a:gridCol w="846574">
                  <a:extLst>
                    <a:ext uri="{9D8B030D-6E8A-4147-A177-3AD203B41FA5}">
                      <a16:colId xmlns:a16="http://schemas.microsoft.com/office/drawing/2014/main" val="2121381228"/>
                    </a:ext>
                  </a:extLst>
                </a:gridCol>
              </a:tblGrid>
              <a:tr h="30987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 err="1">
                          <a:effectLst/>
                        </a:rPr>
                        <a:t>Numéro</a:t>
                      </a:r>
                      <a:r>
                        <a:rPr lang="en-GB" sz="1200" b="1" u="none" strike="noStrike" dirty="0">
                          <a:effectLst/>
                        </a:rPr>
                        <a:t> de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la </a:t>
                      </a:r>
                      <a:r>
                        <a:rPr lang="en-GB" sz="1200" b="1" u="none" strike="noStrike" dirty="0" err="1">
                          <a:effectLst/>
                        </a:rPr>
                        <a:t>trame</a:t>
                      </a:r>
                      <a:r>
                        <a:rPr lang="en-GB" sz="1200" b="1" u="none" strike="noStrike" dirty="0">
                          <a:effectLst/>
                        </a:rPr>
                        <a:t> </a:t>
                      </a:r>
                      <a:r>
                        <a:rPr lang="en-GB" sz="1200" b="1" u="none" strike="noStrike" dirty="0" err="1">
                          <a:effectLst/>
                        </a:rPr>
                        <a:t>vidéo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Position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du </a:t>
                      </a:r>
                      <a:r>
                        <a:rPr lang="en-GB" sz="1200" b="1" u="none" strike="noStrike" dirty="0" err="1">
                          <a:effectLst/>
                        </a:rPr>
                        <a:t>joueur</a:t>
                      </a:r>
                      <a:r>
                        <a:rPr lang="en-GB" sz="1200" b="1" u="none" strike="noStrike" dirty="0">
                          <a:effectLst/>
                        </a:rPr>
                        <a:t> (X)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Position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du </a:t>
                      </a:r>
                      <a:r>
                        <a:rPr lang="en-GB" sz="1200" b="1" u="none" strike="noStrike" dirty="0" err="1">
                          <a:effectLst/>
                        </a:rPr>
                        <a:t>joueur</a:t>
                      </a:r>
                      <a:r>
                        <a:rPr lang="en-GB" sz="1200" b="1" u="none" strike="noStrike" dirty="0">
                          <a:effectLst/>
                        </a:rPr>
                        <a:t> (Y)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Vitesse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 err="1">
                          <a:effectLst/>
                        </a:rPr>
                        <a:t>Accéleration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Orientation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du corps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Distance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 err="1">
                          <a:effectLst/>
                        </a:rPr>
                        <a:t>à</a:t>
                      </a:r>
                      <a:r>
                        <a:rPr lang="en-GB" sz="1200" b="1" u="none" strike="noStrike" dirty="0">
                          <a:effectLst/>
                        </a:rPr>
                        <a:t> la </a:t>
                      </a:r>
                      <a:r>
                        <a:rPr lang="en-GB" sz="1200" b="1" u="none" strike="noStrike" dirty="0" err="1">
                          <a:effectLst/>
                        </a:rPr>
                        <a:t>balle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Type </a:t>
                      </a:r>
                      <a:r>
                        <a:rPr lang="en-GB" sz="1200" b="1" u="none" strike="noStrike" dirty="0" err="1">
                          <a:effectLst/>
                        </a:rPr>
                        <a:t>d'action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Positions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des </a:t>
                      </a:r>
                      <a:r>
                        <a:rPr lang="en-GB" sz="1200" b="1" u="none" strike="noStrike" dirty="0" err="1">
                          <a:effectLst/>
                        </a:rPr>
                        <a:t>coéquipiers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Positions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des </a:t>
                      </a:r>
                      <a:r>
                        <a:rPr lang="en-GB" sz="1200" b="1" u="none" strike="noStrike" dirty="0" err="1">
                          <a:effectLst/>
                        </a:rPr>
                        <a:t>adversaires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Succès de </a:t>
                      </a:r>
                      <a:r>
                        <a:rPr lang="en-GB" sz="1200" b="1" u="none" strike="noStrike" dirty="0" err="1">
                          <a:effectLst/>
                        </a:rPr>
                        <a:t>l'action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160765"/>
                  </a:ext>
                </a:extLst>
              </a:tr>
              <a:tr h="145823"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 dirty="0">
                          <a:effectLst/>
                        </a:rPr>
                        <a:t>1</a:t>
                      </a:r>
                      <a:endParaRPr lang="en-F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34.5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20.7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5.3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0.8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45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1.2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u="none" strike="noStrike">
                          <a:effectLst/>
                        </a:rPr>
                        <a:t>Passe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[(30, 22), (40, 20), (32, 25)]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[(35, 18), (45, 23), (50, 25)]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1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extLst>
                  <a:ext uri="{0D108BD9-81ED-4DB2-BD59-A6C34878D82A}">
                    <a16:rowId xmlns:a16="http://schemas.microsoft.com/office/drawing/2014/main" val="2342703336"/>
                  </a:ext>
                </a:extLst>
              </a:tr>
              <a:tr h="145823"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35.0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20.9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5.4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0.9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47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1.0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u="none" strike="noStrike">
                          <a:effectLst/>
                        </a:rPr>
                        <a:t>Dribble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[(31, 23), (41, 21), (33, 26)]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[(36, 19), (46, 24), (51, 26)]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extLst>
                  <a:ext uri="{0D108BD9-81ED-4DB2-BD59-A6C34878D82A}">
                    <a16:rowId xmlns:a16="http://schemas.microsoft.com/office/drawing/2014/main" val="4155376734"/>
                  </a:ext>
                </a:extLst>
              </a:tr>
              <a:tr h="145823"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3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35.6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21.1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5.5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1.0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50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0.9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u="none" strike="noStrike">
                          <a:effectLst/>
                        </a:rPr>
                        <a:t>Tir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[(32, 24), (42, 22), (34, 27)]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[(37, 20), (47, 25), (52, 27)]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 dirty="0">
                          <a:effectLst/>
                        </a:rPr>
                        <a:t>1</a:t>
                      </a:r>
                      <a:endParaRPr lang="en-F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35" marR="6835" marT="6835" marB="0" anchor="b"/>
                </a:tc>
                <a:extLst>
                  <a:ext uri="{0D108BD9-81ED-4DB2-BD59-A6C34878D82A}">
                    <a16:rowId xmlns:a16="http://schemas.microsoft.com/office/drawing/2014/main" val="2205464625"/>
                  </a:ext>
                </a:extLst>
              </a:tr>
            </a:tbl>
          </a:graphicData>
        </a:graphic>
      </p:graphicFrame>
      <p:sp>
        <p:nvSpPr>
          <p:cNvPr id="13" name="object 8">
            <a:extLst>
              <a:ext uri="{FF2B5EF4-FFF2-40B4-BE49-F238E27FC236}">
                <a16:creationId xmlns:a16="http://schemas.microsoft.com/office/drawing/2014/main" id="{4BA65809-0F5B-81C6-89A5-21EF4DED7275}"/>
              </a:ext>
            </a:extLst>
          </p:cNvPr>
          <p:cNvSpPr txBox="1"/>
          <p:nvPr/>
        </p:nvSpPr>
        <p:spPr>
          <a:xfrm>
            <a:off x="3581400" y="1783010"/>
            <a:ext cx="4495800" cy="382156"/>
          </a:xfrm>
          <a:prstGeom prst="rect">
            <a:avLst/>
          </a:prstGeom>
          <a:ln>
            <a:gradFill>
              <a:gsLst>
                <a:gs pos="37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vert="horz" wrap="square" lIns="0" tIns="12700" rIns="0" bIns="0" rtlCol="0">
            <a:spAutoFit/>
          </a:bodyPr>
          <a:lstStyle/>
          <a:p>
            <a:pPr marL="12065" algn="just">
              <a:spcBef>
                <a:spcPts val="100"/>
              </a:spcBef>
              <a:tabLst>
                <a:tab pos="299085" algn="l"/>
                <a:tab pos="299720" algn="l"/>
              </a:tabLst>
            </a:pPr>
            <a:r>
              <a:rPr lang="fr-FR" sz="2400" b="1" u="sng" dirty="0"/>
              <a:t>Analyse vidéo / Exemple Football</a:t>
            </a:r>
          </a:p>
        </p:txBody>
      </p:sp>
    </p:spTree>
    <p:extLst>
      <p:ext uri="{BB962C8B-B14F-4D97-AF65-F5344CB8AC3E}">
        <p14:creationId xmlns:p14="http://schemas.microsoft.com/office/powerpoint/2010/main" val="2993063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 err="1">
                <a:latin typeface="Arial"/>
                <a:cs typeface="Arial"/>
              </a:rPr>
              <a:t>DataSet</a:t>
            </a:r>
            <a:r>
              <a:rPr lang="fr-FR" sz="2500" b="1" spc="-5" dirty="0">
                <a:latin typeface="Arial"/>
                <a:cs typeface="Arial"/>
              </a:rPr>
              <a:t> (Haute Performance Sportive)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13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4BA65809-0F5B-81C6-89A5-21EF4DED7275}"/>
              </a:ext>
            </a:extLst>
          </p:cNvPr>
          <p:cNvSpPr txBox="1"/>
          <p:nvPr/>
        </p:nvSpPr>
        <p:spPr>
          <a:xfrm>
            <a:off x="3581400" y="1783010"/>
            <a:ext cx="4419600" cy="382156"/>
          </a:xfrm>
          <a:prstGeom prst="rect">
            <a:avLst/>
          </a:prstGeom>
          <a:ln>
            <a:gradFill>
              <a:gsLst>
                <a:gs pos="37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vert="horz" wrap="square" lIns="0" tIns="12700" rIns="0" bIns="0" rtlCol="0">
            <a:spAutoFit/>
          </a:bodyPr>
          <a:lstStyle/>
          <a:p>
            <a:pPr marL="12065" algn="just">
              <a:spcBef>
                <a:spcPts val="100"/>
              </a:spcBef>
              <a:tabLst>
                <a:tab pos="299085" algn="l"/>
                <a:tab pos="299720" algn="l"/>
              </a:tabLst>
            </a:pPr>
            <a:r>
              <a:rPr lang="fr-FR" sz="2400" b="1" u="sng" dirty="0"/>
              <a:t>Analyse vidéo / Exemple Tennis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291C84-9444-E81E-EA2F-B65B87523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449109"/>
              </p:ext>
            </p:extLst>
          </p:nvPr>
        </p:nvGraphicFramePr>
        <p:xfrm>
          <a:off x="1379538" y="3041650"/>
          <a:ext cx="9432925" cy="9878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5856">
                  <a:extLst>
                    <a:ext uri="{9D8B030D-6E8A-4147-A177-3AD203B41FA5}">
                      <a16:colId xmlns:a16="http://schemas.microsoft.com/office/drawing/2014/main" val="3823775355"/>
                    </a:ext>
                  </a:extLst>
                </a:gridCol>
                <a:gridCol w="809886">
                  <a:extLst>
                    <a:ext uri="{9D8B030D-6E8A-4147-A177-3AD203B41FA5}">
                      <a16:colId xmlns:a16="http://schemas.microsoft.com/office/drawing/2014/main" val="1858103427"/>
                    </a:ext>
                  </a:extLst>
                </a:gridCol>
                <a:gridCol w="803137">
                  <a:extLst>
                    <a:ext uri="{9D8B030D-6E8A-4147-A177-3AD203B41FA5}">
                      <a16:colId xmlns:a16="http://schemas.microsoft.com/office/drawing/2014/main" val="2541380816"/>
                    </a:ext>
                  </a:extLst>
                </a:gridCol>
                <a:gridCol w="836883">
                  <a:extLst>
                    <a:ext uri="{9D8B030D-6E8A-4147-A177-3AD203B41FA5}">
                      <a16:colId xmlns:a16="http://schemas.microsoft.com/office/drawing/2014/main" val="1255267602"/>
                    </a:ext>
                  </a:extLst>
                </a:gridCol>
                <a:gridCol w="830133">
                  <a:extLst>
                    <a:ext uri="{9D8B030D-6E8A-4147-A177-3AD203B41FA5}">
                      <a16:colId xmlns:a16="http://schemas.microsoft.com/office/drawing/2014/main" val="2858012694"/>
                    </a:ext>
                  </a:extLst>
                </a:gridCol>
                <a:gridCol w="701902">
                  <a:extLst>
                    <a:ext uri="{9D8B030D-6E8A-4147-A177-3AD203B41FA5}">
                      <a16:colId xmlns:a16="http://schemas.microsoft.com/office/drawing/2014/main" val="4082618434"/>
                    </a:ext>
                  </a:extLst>
                </a:gridCol>
                <a:gridCol w="695152">
                  <a:extLst>
                    <a:ext uri="{9D8B030D-6E8A-4147-A177-3AD203B41FA5}">
                      <a16:colId xmlns:a16="http://schemas.microsoft.com/office/drawing/2014/main" val="545185335"/>
                    </a:ext>
                  </a:extLst>
                </a:gridCol>
                <a:gridCol w="884126">
                  <a:extLst>
                    <a:ext uri="{9D8B030D-6E8A-4147-A177-3AD203B41FA5}">
                      <a16:colId xmlns:a16="http://schemas.microsoft.com/office/drawing/2014/main" val="961734314"/>
                    </a:ext>
                  </a:extLst>
                </a:gridCol>
                <a:gridCol w="575919">
                  <a:extLst>
                    <a:ext uri="{9D8B030D-6E8A-4147-A177-3AD203B41FA5}">
                      <a16:colId xmlns:a16="http://schemas.microsoft.com/office/drawing/2014/main" val="2469430862"/>
                    </a:ext>
                  </a:extLst>
                </a:gridCol>
                <a:gridCol w="728897">
                  <a:extLst>
                    <a:ext uri="{9D8B030D-6E8A-4147-A177-3AD203B41FA5}">
                      <a16:colId xmlns:a16="http://schemas.microsoft.com/office/drawing/2014/main" val="2598592643"/>
                    </a:ext>
                  </a:extLst>
                </a:gridCol>
                <a:gridCol w="722149">
                  <a:extLst>
                    <a:ext uri="{9D8B030D-6E8A-4147-A177-3AD203B41FA5}">
                      <a16:colId xmlns:a16="http://schemas.microsoft.com/office/drawing/2014/main" val="2420283622"/>
                    </a:ext>
                  </a:extLst>
                </a:gridCol>
                <a:gridCol w="818885">
                  <a:extLst>
                    <a:ext uri="{9D8B030D-6E8A-4147-A177-3AD203B41FA5}">
                      <a16:colId xmlns:a16="http://schemas.microsoft.com/office/drawing/2014/main" val="3345396801"/>
                    </a:ext>
                  </a:extLst>
                </a:gridCol>
              </a:tblGrid>
              <a:tr h="34236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 err="1">
                          <a:effectLst/>
                        </a:rPr>
                        <a:t>Numéro</a:t>
                      </a:r>
                      <a:r>
                        <a:rPr lang="en-GB" sz="1200" b="1" u="none" strike="noStrike" dirty="0">
                          <a:effectLst/>
                        </a:rPr>
                        <a:t> de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la </a:t>
                      </a:r>
                      <a:r>
                        <a:rPr lang="en-GB" sz="1200" b="1" u="none" strike="noStrike" dirty="0" err="1">
                          <a:effectLst/>
                        </a:rPr>
                        <a:t>trame</a:t>
                      </a:r>
                      <a:r>
                        <a:rPr lang="en-GB" sz="1200" b="1" u="none" strike="noStrike" dirty="0">
                          <a:effectLst/>
                        </a:rPr>
                        <a:t> </a:t>
                      </a:r>
                      <a:r>
                        <a:rPr lang="en-GB" sz="1200" b="1" u="none" strike="noStrike" dirty="0" err="1">
                          <a:effectLst/>
                        </a:rPr>
                        <a:t>vidéo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Position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du </a:t>
                      </a:r>
                      <a:r>
                        <a:rPr lang="en-GB" sz="1200" b="1" u="none" strike="noStrike" dirty="0" err="1">
                          <a:effectLst/>
                        </a:rPr>
                        <a:t>joueur</a:t>
                      </a:r>
                      <a:r>
                        <a:rPr lang="en-GB" sz="1200" b="1" u="none" strike="noStrike" dirty="0">
                          <a:effectLst/>
                        </a:rPr>
                        <a:t> (X)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Position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du </a:t>
                      </a:r>
                      <a:r>
                        <a:rPr lang="en-GB" sz="1200" b="1" u="none" strike="noStrike" dirty="0" err="1">
                          <a:effectLst/>
                        </a:rPr>
                        <a:t>joueur</a:t>
                      </a:r>
                      <a:r>
                        <a:rPr lang="en-GB" sz="1200" b="1" u="none" strike="noStrike" dirty="0">
                          <a:effectLst/>
                        </a:rPr>
                        <a:t> (Y)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Position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de la </a:t>
                      </a:r>
                      <a:r>
                        <a:rPr lang="en-GB" sz="1200" b="1" u="none" strike="noStrike" dirty="0" err="1">
                          <a:effectLst/>
                        </a:rPr>
                        <a:t>raquette</a:t>
                      </a:r>
                      <a:r>
                        <a:rPr lang="en-GB" sz="1200" b="1" u="none" strike="noStrike" dirty="0">
                          <a:effectLst/>
                        </a:rPr>
                        <a:t> (X)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Position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de la </a:t>
                      </a:r>
                      <a:r>
                        <a:rPr lang="en-GB" sz="1200" b="1" u="none" strike="noStrike" dirty="0" err="1">
                          <a:effectLst/>
                        </a:rPr>
                        <a:t>raquette</a:t>
                      </a:r>
                      <a:r>
                        <a:rPr lang="en-GB" sz="1200" b="1" u="none" strike="noStrike" dirty="0">
                          <a:effectLst/>
                        </a:rPr>
                        <a:t> (Y)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Position de la </a:t>
                      </a:r>
                      <a:r>
                        <a:rPr lang="en-GB" sz="1200" b="1" u="none" strike="noStrike" dirty="0" err="1">
                          <a:effectLst/>
                        </a:rPr>
                        <a:t>balle</a:t>
                      </a:r>
                      <a:r>
                        <a:rPr lang="en-GB" sz="1200" b="1" u="none" strike="noStrike" dirty="0">
                          <a:effectLst/>
                        </a:rPr>
                        <a:t> (X)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Position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de la </a:t>
                      </a:r>
                      <a:r>
                        <a:rPr lang="en-GB" sz="1200" b="1" u="none" strike="noStrike" dirty="0" err="1">
                          <a:effectLst/>
                        </a:rPr>
                        <a:t>balle</a:t>
                      </a:r>
                      <a:r>
                        <a:rPr lang="en-GB" sz="1200" b="1" u="none" strike="noStrike" dirty="0">
                          <a:effectLst/>
                        </a:rPr>
                        <a:t> (Y)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Vitesse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de la </a:t>
                      </a:r>
                      <a:r>
                        <a:rPr lang="en-GB" sz="1200" b="1" u="none" strike="noStrike" dirty="0" err="1">
                          <a:effectLst/>
                        </a:rPr>
                        <a:t>balle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Type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de coup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Position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du pied (X)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Position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du pied (Y)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 err="1">
                          <a:effectLst/>
                        </a:rPr>
                        <a:t>Résultat</a:t>
                      </a:r>
                      <a:r>
                        <a:rPr lang="en-GB" sz="1200" b="1" u="none" strike="noStrike" dirty="0">
                          <a:effectLst/>
                        </a:rPr>
                        <a:t> </a:t>
                      </a:r>
                      <a:br>
                        <a:rPr lang="en-GB" sz="1200" b="1" u="none" strike="noStrike" dirty="0">
                          <a:effectLst/>
                        </a:rPr>
                      </a:br>
                      <a:r>
                        <a:rPr lang="en-GB" sz="1200" b="1" u="none" strike="noStrike" dirty="0">
                          <a:effectLst/>
                        </a:rPr>
                        <a:t>du coup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746"/>
                  </a:ext>
                </a:extLst>
              </a:tr>
              <a:tr h="144152"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1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23.5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7.2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24.0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7.5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25.0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6.8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45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u="none" strike="noStrike">
                          <a:effectLst/>
                        </a:rPr>
                        <a:t>cours droit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23.0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7.0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u="none" strike="noStrike">
                          <a:effectLst/>
                        </a:rPr>
                        <a:t>en jeu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extLst>
                  <a:ext uri="{0D108BD9-81ED-4DB2-BD59-A6C34878D82A}">
                    <a16:rowId xmlns:a16="http://schemas.microsoft.com/office/drawing/2014/main" val="1203293826"/>
                  </a:ext>
                </a:extLst>
              </a:tr>
              <a:tr h="144152"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24.0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7.5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24.5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7.8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25.5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7.0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50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u="none" strike="noStrike">
                          <a:effectLst/>
                        </a:rPr>
                        <a:t>service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23.5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7.3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u="none" strike="noStrike">
                          <a:effectLst/>
                        </a:rPr>
                        <a:t>gagnant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extLst>
                  <a:ext uri="{0D108BD9-81ED-4DB2-BD59-A6C34878D82A}">
                    <a16:rowId xmlns:a16="http://schemas.microsoft.com/office/drawing/2014/main" val="3041927552"/>
                  </a:ext>
                </a:extLst>
              </a:tr>
              <a:tr h="144152"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3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22.0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8.0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22.5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8.3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24.0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7.5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55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u="none" strike="noStrike">
                          <a:effectLst/>
                        </a:rPr>
                        <a:t>revers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21.5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R" sz="900" u="none" strike="noStrike">
                          <a:effectLst/>
                        </a:rPr>
                        <a:t>7.8</a:t>
                      </a:r>
                      <a:endParaRPr lang="en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u="none" strike="noStrike" dirty="0" err="1">
                          <a:effectLst/>
                        </a:rPr>
                        <a:t>faute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57" marR="6757" marT="6757" marB="0" anchor="b"/>
                </a:tc>
                <a:extLst>
                  <a:ext uri="{0D108BD9-81ED-4DB2-BD59-A6C34878D82A}">
                    <a16:rowId xmlns:a16="http://schemas.microsoft.com/office/drawing/2014/main" val="270061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826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Power BI (Benchmark)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14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367F45B9-1F20-DB5B-74EC-2B7554991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136666"/>
              </p:ext>
            </p:extLst>
          </p:nvPr>
        </p:nvGraphicFramePr>
        <p:xfrm>
          <a:off x="789282" y="833565"/>
          <a:ext cx="10107317" cy="4900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118">
                  <a:extLst>
                    <a:ext uri="{9D8B030D-6E8A-4147-A177-3AD203B41FA5}">
                      <a16:colId xmlns:a16="http://schemas.microsoft.com/office/drawing/2014/main" val="163862995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710868253"/>
                    </a:ext>
                  </a:extLst>
                </a:gridCol>
                <a:gridCol w="1875693">
                  <a:extLst>
                    <a:ext uri="{9D8B030D-6E8A-4147-A177-3AD203B41FA5}">
                      <a16:colId xmlns:a16="http://schemas.microsoft.com/office/drawing/2014/main" val="3338500874"/>
                    </a:ext>
                  </a:extLst>
                </a:gridCol>
                <a:gridCol w="1589242">
                  <a:extLst>
                    <a:ext uri="{9D8B030D-6E8A-4147-A177-3AD203B41FA5}">
                      <a16:colId xmlns:a16="http://schemas.microsoft.com/office/drawing/2014/main" val="1604580163"/>
                    </a:ext>
                  </a:extLst>
                </a:gridCol>
                <a:gridCol w="2021464">
                  <a:extLst>
                    <a:ext uri="{9D8B030D-6E8A-4147-A177-3AD203B41FA5}">
                      <a16:colId xmlns:a16="http://schemas.microsoft.com/office/drawing/2014/main" val="4105663310"/>
                    </a:ext>
                  </a:extLst>
                </a:gridCol>
              </a:tblGrid>
              <a:tr h="531062">
                <a:tc>
                  <a:txBody>
                    <a:bodyPr/>
                    <a:lstStyle/>
                    <a:p>
                      <a:pPr algn="ctr"/>
                      <a:endParaRPr lang="en-FR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/>
                        <a:t>Tableau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/>
                        <a:t>Qlik (Sense &amp; View)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/>
                        <a:t>Cognos (IBM)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/>
                        <a:t>PowerBI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278370"/>
                  </a:ext>
                </a:extLst>
              </a:tr>
              <a:tr h="265531">
                <a:tc>
                  <a:txBody>
                    <a:bodyPr/>
                    <a:lstStyle/>
                    <a:p>
                      <a:r>
                        <a:rPr lang="en-FR" sz="1500" b="1">
                          <a:solidFill>
                            <a:srgbClr val="002060"/>
                          </a:solidFill>
                        </a:rPr>
                        <a:t>Communauté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sz="14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037336"/>
                  </a:ext>
                </a:extLst>
              </a:tr>
              <a:tr h="265531">
                <a:tc>
                  <a:txBody>
                    <a:bodyPr/>
                    <a:lstStyle/>
                    <a:p>
                      <a:r>
                        <a:rPr lang="en-FR" sz="1500" b="1">
                          <a:solidFill>
                            <a:srgbClr val="002060"/>
                          </a:solidFill>
                        </a:rPr>
                        <a:t>Facilité d’utilisation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FR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FR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FR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FR" sz="14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577910"/>
                  </a:ext>
                </a:extLst>
              </a:tr>
              <a:tr h="1137990">
                <a:tc>
                  <a:txBody>
                    <a:bodyPr/>
                    <a:lstStyle/>
                    <a:p>
                      <a:r>
                        <a:rPr lang="en-FR" sz="1500" b="1">
                          <a:solidFill>
                            <a:srgbClr val="002060"/>
                          </a:solidFill>
                        </a:rPr>
                        <a:t>Licence / Prix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FR" sz="1400"/>
                        <a:t>Tableau Creator : 70€/mois/user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FR" sz="1400"/>
                        <a:t>Tableau Explorer :  42€/mois/user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FR" sz="1400"/>
                        <a:t>Tableau Viewer : 15€/</a:t>
                      </a:r>
                      <a:r>
                        <a:rPr lang="en-FR" sz="1400" err="1"/>
                        <a:t>mois</a:t>
                      </a:r>
                      <a:r>
                        <a:rPr lang="en-FR" sz="1400"/>
                        <a:t>/user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400" dirty="0"/>
                        <a:t>QS : 30€/mois/user</a:t>
                      </a:r>
                    </a:p>
                    <a:p>
                      <a:endParaRPr lang="en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400" dirty="0"/>
                        <a:t>10€/mois/user</a:t>
                      </a:r>
                    </a:p>
                    <a:p>
                      <a:r>
                        <a:rPr lang="en-FR" sz="1400" dirty="0"/>
                        <a:t>(1 à 200 users)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400" dirty="0"/>
                        <a:t>10€/mois/usrer</a:t>
                      </a:r>
                    </a:p>
                    <a:p>
                      <a:endParaRPr lang="en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329610"/>
                  </a:ext>
                </a:extLst>
              </a:tr>
              <a:tr h="265531">
                <a:tc>
                  <a:txBody>
                    <a:bodyPr/>
                    <a:lstStyle/>
                    <a:p>
                      <a:r>
                        <a:rPr lang="en-FR" sz="1500" b="1" dirty="0">
                          <a:solidFill>
                            <a:srgbClr val="002060"/>
                          </a:solidFill>
                        </a:rP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FR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FR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FR" sz="1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FR" sz="14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5348"/>
                  </a:ext>
                </a:extLst>
              </a:tr>
              <a:tr h="265531">
                <a:tc>
                  <a:txBody>
                    <a:bodyPr/>
                    <a:lstStyle/>
                    <a:p>
                      <a:r>
                        <a:rPr lang="en-FR" sz="1500" b="1" dirty="0">
                          <a:solidFill>
                            <a:srgbClr val="002060"/>
                          </a:solidFill>
                        </a:rPr>
                        <a:t>Sécurité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sz="1400"/>
                        <a:t>Active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sz="1400"/>
                        <a:t>QlikView Publisher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sz="1400"/>
                        <a:t>Kerberos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sz="1400" dirty="0"/>
                        <a:t>Row Level Security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524507"/>
                  </a:ext>
                </a:extLst>
              </a:tr>
              <a:tr h="455196">
                <a:tc>
                  <a:txBody>
                    <a:bodyPr/>
                    <a:lstStyle/>
                    <a:p>
                      <a:r>
                        <a:rPr lang="en-FR" sz="1500" b="1" dirty="0">
                          <a:solidFill>
                            <a:srgbClr val="002060"/>
                          </a:solidFill>
                        </a:rPr>
                        <a:t>Limite d’affichage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sz="1400"/>
                        <a:t>+++ (&gt; 3000)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sz="1400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sz="140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R" sz="1400" dirty="0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28166"/>
                  </a:ext>
                </a:extLst>
              </a:tr>
              <a:tr h="1137990">
                <a:tc>
                  <a:txBody>
                    <a:bodyPr/>
                    <a:lstStyle/>
                    <a:p>
                      <a:r>
                        <a:rPr lang="en-FR" sz="1500" b="1">
                          <a:solidFill>
                            <a:srgbClr val="002060"/>
                          </a:solidFill>
                        </a:rPr>
                        <a:t>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400" dirty="0"/>
                        <a:t>Rapide et efficace pour le métier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400"/>
                        <a:t>Maintenance facile</a:t>
                      </a:r>
                    </a:p>
                    <a:p>
                      <a:r>
                        <a:rPr lang="en-FR" sz="1400"/>
                        <a:t>Solution adoptée par l’armée française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400"/>
                        <a:t>Interface intuitive / Chargement facile pour les données personnelles externes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400" dirty="0"/>
                        <a:t>Collaboratif / Modélisation / Intégration différent types de données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572049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F507BE9-2337-7345-9766-0DD533094534}"/>
              </a:ext>
            </a:extLst>
          </p:cNvPr>
          <p:cNvSpPr/>
          <p:nvPr/>
        </p:nvSpPr>
        <p:spPr>
          <a:xfrm>
            <a:off x="8814247" y="381769"/>
            <a:ext cx="2223655" cy="5754123"/>
          </a:xfrm>
          <a:prstGeom prst="roundRect">
            <a:avLst/>
          </a:prstGeom>
          <a:solidFill>
            <a:srgbClr val="C00000">
              <a:alpha val="23666"/>
            </a:srgb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3829478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Power BI (Benchmark)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15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E8AB99AD-C930-1123-FC04-8C616AF4099D}"/>
              </a:ext>
            </a:extLst>
          </p:cNvPr>
          <p:cNvSpPr txBox="1"/>
          <p:nvPr/>
        </p:nvSpPr>
        <p:spPr>
          <a:xfrm>
            <a:off x="1215440" y="1010619"/>
            <a:ext cx="9761119" cy="210762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latin typeface="Arial"/>
                <a:cs typeface="Arial"/>
              </a:rPr>
              <a:t>Version gratuite (</a:t>
            </a:r>
            <a:r>
              <a:rPr lang="fr-FR" sz="2000" spc="-5" dirty="0">
                <a:latin typeface="Arial"/>
                <a:cs typeface="Arial"/>
              </a:rPr>
              <a:t>Besoins personnels / Impossible de partager des rapports)</a:t>
            </a:r>
          </a:p>
          <a:p>
            <a:pPr marL="469900" lvl="1">
              <a:spcBef>
                <a:spcPts val="675"/>
              </a:spcBef>
            </a:pPr>
            <a:r>
              <a:rPr lang="fr-FR" sz="2000" spc="-5" dirty="0">
                <a:latin typeface="Arial"/>
                <a:cs typeface="Arial"/>
              </a:rPr>
              <a:t>				</a:t>
            </a:r>
            <a:r>
              <a:rPr lang="fr-FR" sz="2400" b="1" u="sng" spc="-5" dirty="0">
                <a:latin typeface="Arial"/>
                <a:cs typeface="Arial"/>
              </a:rPr>
              <a:t>vs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latin typeface="Arial"/>
                <a:cs typeface="Arial"/>
              </a:rPr>
              <a:t>Version Pro (</a:t>
            </a:r>
            <a:r>
              <a:rPr lang="fr-FR" sz="2000" spc="-5" dirty="0">
                <a:latin typeface="Arial"/>
                <a:cs typeface="Arial"/>
              </a:rPr>
              <a:t>Besoins collaboratifs / Entreprise de taille moyenne)</a:t>
            </a:r>
          </a:p>
          <a:p>
            <a:pPr marL="469900" lvl="1">
              <a:spcBef>
                <a:spcPts val="675"/>
              </a:spcBef>
            </a:pPr>
            <a:r>
              <a:rPr lang="fr-FR" sz="2000" spc="-5" dirty="0">
                <a:latin typeface="Arial"/>
                <a:cs typeface="Arial"/>
              </a:rPr>
              <a:t>				</a:t>
            </a:r>
            <a:r>
              <a:rPr lang="fr-FR" sz="2400" b="1" u="sng" spc="-5" dirty="0">
                <a:latin typeface="Arial"/>
                <a:cs typeface="Arial"/>
              </a:rPr>
              <a:t>vs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latin typeface="Arial"/>
                <a:cs typeface="Arial"/>
              </a:rPr>
              <a:t>Version Premium (</a:t>
            </a:r>
            <a:r>
              <a:rPr lang="fr-FR" sz="2000" spc="-5" dirty="0">
                <a:latin typeface="Arial"/>
                <a:cs typeface="Arial"/>
              </a:rPr>
              <a:t>Besoins collaboratifs / Entreprise de taille grande)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8F1189-C176-35ED-7B8B-1F6C508E30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480" y="3382459"/>
            <a:ext cx="52705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32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Power BI (Mode emploi)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01/08/2023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16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E8AB99AD-C930-1123-FC04-8C616AF4099D}"/>
              </a:ext>
            </a:extLst>
          </p:cNvPr>
          <p:cNvSpPr txBox="1"/>
          <p:nvPr/>
        </p:nvSpPr>
        <p:spPr>
          <a:xfrm>
            <a:off x="602081" y="1143000"/>
            <a:ext cx="9761119" cy="5164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 algn="just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Installation Power BI Desktop (Version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gratuite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55600" indent="-342900" algn="just">
              <a:spcBef>
                <a:spcPts val="675"/>
              </a:spcBef>
              <a:buFont typeface="Wingdings" pitchFamily="2" charset="2"/>
              <a:buChar char="q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Import un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plusieurs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fichiers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données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(excel, csv, txt,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, …)</a:t>
            </a:r>
          </a:p>
          <a:p>
            <a:pPr marL="355600" indent="-342900" algn="just">
              <a:spcBef>
                <a:spcPts val="675"/>
              </a:spcBef>
              <a:buFont typeface="Wingdings" pitchFamily="2" charset="2"/>
              <a:buChar char="q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Création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des tableaux de bord</a:t>
            </a:r>
          </a:p>
          <a:p>
            <a:pPr marL="355600" indent="-342900" algn="just">
              <a:spcBef>
                <a:spcPts val="675"/>
              </a:spcBef>
              <a:buFont typeface="Wingdings" pitchFamily="2" charset="2"/>
              <a:buChar char="q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Obtenir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des Insights (analyse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rapide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55600" indent="-342900" algn="just">
              <a:spcBef>
                <a:spcPts val="675"/>
              </a:spcBef>
              <a:buFont typeface="Wingdings" pitchFamily="2" charset="2"/>
              <a:buChar char="q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Création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d’un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modèle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données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675"/>
              </a:spcBef>
              <a:buFont typeface="Wingdings" pitchFamily="2" charset="2"/>
              <a:buChar char="q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675"/>
              </a:spcBef>
              <a:buFont typeface="Wingdings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Exporter le rapport (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fichier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pbix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55600" indent="-342900" algn="just">
              <a:spcBef>
                <a:spcPts val="675"/>
              </a:spcBef>
              <a:buFont typeface="Wingdings" pitchFamily="2" charset="2"/>
              <a:buChar char="q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00000"/>
              </a:lnSpc>
              <a:spcBef>
                <a:spcPts val="675"/>
              </a:spcBef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349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Power BI (Démo Haute Performance)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01/08/2023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17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E8AB99AD-C930-1123-FC04-8C616AF4099D}"/>
              </a:ext>
            </a:extLst>
          </p:cNvPr>
          <p:cNvSpPr txBox="1"/>
          <p:nvPr/>
        </p:nvSpPr>
        <p:spPr>
          <a:xfrm>
            <a:off x="447282" y="1143000"/>
            <a:ext cx="9761119" cy="198451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solidFill>
                  <a:srgbClr val="333333"/>
                </a:solidFill>
                <a:latin typeface="Arial"/>
                <a:cs typeface="Arial"/>
              </a:rPr>
              <a:t>Analyse Technique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solidFill>
                  <a:srgbClr val="333333"/>
                </a:solidFill>
                <a:latin typeface="Arial"/>
                <a:cs typeface="Arial"/>
              </a:rPr>
              <a:t>Analyse Tactique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b="1" spc="-5" dirty="0">
                <a:solidFill>
                  <a:srgbClr val="333333"/>
                </a:solidFill>
                <a:latin typeface="Arial"/>
                <a:cs typeface="Arial"/>
              </a:rPr>
              <a:t>Analyse Physique (Prévention des blessures)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solidFill>
                  <a:srgbClr val="333333"/>
                </a:solidFill>
                <a:latin typeface="Arial"/>
                <a:cs typeface="Arial"/>
              </a:rPr>
              <a:t>….</a:t>
            </a:r>
            <a:endParaRPr lang="en-GB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endParaRPr lang="fr-FR" sz="2000" spc="-5" dirty="0">
              <a:latin typeface="Arial"/>
              <a:cs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409F58-E227-598A-9946-379D1B14C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578630"/>
              </p:ext>
            </p:extLst>
          </p:nvPr>
        </p:nvGraphicFramePr>
        <p:xfrm>
          <a:off x="1258671" y="2944344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129">
                  <a:extLst>
                    <a:ext uri="{9D8B030D-6E8A-4147-A177-3AD203B41FA5}">
                      <a16:colId xmlns:a16="http://schemas.microsoft.com/office/drawing/2014/main" val="2958047880"/>
                    </a:ext>
                  </a:extLst>
                </a:gridCol>
                <a:gridCol w="6414870">
                  <a:extLst>
                    <a:ext uri="{9D8B030D-6E8A-4147-A177-3AD203B41FA5}">
                      <a16:colId xmlns:a16="http://schemas.microsoft.com/office/drawing/2014/main" val="9444192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br>
                        <a:rPr lang="en-FR" dirty="0"/>
                      </a:br>
                      <a:r>
                        <a:rPr lang="en-FR" b="1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Identifier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R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Quels sont les facteurs de risques et mécanismes lésionnels ?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2475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dirty="0"/>
                        <a:t>Quelles sont les barrières à l’intervention préventive ?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38754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endParaRPr lang="en-FR" dirty="0"/>
                    </a:p>
                    <a:p>
                      <a:pPr algn="ctr"/>
                      <a:r>
                        <a:rPr lang="en-FR" b="1" dirty="0"/>
                        <a:t>Intervenir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R" dirty="0"/>
                        <a:t>Introduire la stratégie préventive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5969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dirty="0"/>
                        <a:t>Planifier le contenu et les modalités de l’intervention préventive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46600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endParaRPr lang="en-FR" dirty="0"/>
                    </a:p>
                    <a:p>
                      <a:pPr algn="ctr"/>
                      <a:r>
                        <a:rPr lang="en-FR" b="1" dirty="0"/>
                        <a:t>Réévaluer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R" dirty="0"/>
                        <a:t>Quelles stratégies préventives sont déjà mises en place ?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0999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dirty="0"/>
                        <a:t>A quel type de blessure l’équipe (club) fait-il actuellement face ?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305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01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Power BI (Démo Haute Performance)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99138" y="6612222"/>
            <a:ext cx="958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18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B75B4AC-F07C-6F41-9628-C9D44E323249}"/>
              </a:ext>
            </a:extLst>
          </p:cNvPr>
          <p:cNvSpPr txBox="1"/>
          <p:nvPr/>
        </p:nvSpPr>
        <p:spPr>
          <a:xfrm>
            <a:off x="3299262" y="11700869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E8AB99AD-C930-1123-FC04-8C616AF4099D}"/>
              </a:ext>
            </a:extLst>
          </p:cNvPr>
          <p:cNvSpPr txBox="1"/>
          <p:nvPr/>
        </p:nvSpPr>
        <p:spPr>
          <a:xfrm>
            <a:off x="447282" y="1143000"/>
            <a:ext cx="9761119" cy="118942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solidFill>
                  <a:srgbClr val="333333"/>
                </a:solidFill>
                <a:latin typeface="Arial"/>
                <a:cs typeface="Arial"/>
              </a:rPr>
              <a:t>Football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solidFill>
                  <a:srgbClr val="333333"/>
                </a:solidFill>
                <a:latin typeface="Arial"/>
                <a:cs typeface="Arial"/>
              </a:rPr>
              <a:t>Club / Staff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q"/>
            </a:pPr>
            <a:r>
              <a:rPr lang="fr-FR" sz="2000" spc="-5" dirty="0">
                <a:solidFill>
                  <a:srgbClr val="333333"/>
                </a:solidFill>
                <a:latin typeface="Arial"/>
                <a:cs typeface="Arial"/>
              </a:rPr>
              <a:t>Stratégie : Mettre en place un programme de prévention spécifique des pubalgies</a:t>
            </a:r>
            <a:endParaRPr lang="fr-FR" sz="2000" spc="-5" dirty="0">
              <a:latin typeface="Arial"/>
              <a:cs typeface="Arial"/>
            </a:endParaRPr>
          </a:p>
        </p:txBody>
      </p:sp>
      <p:pic>
        <p:nvPicPr>
          <p:cNvPr id="8194" name="Picture 2" descr="WHAT IS MY GROIN PAIN? - RHP Physiotherapy">
            <a:extLst>
              <a:ext uri="{FF2B5EF4-FFF2-40B4-BE49-F238E27FC236}">
                <a16:creationId xmlns:a16="http://schemas.microsoft.com/office/drawing/2014/main" id="{CB5E9713-FACC-8FCA-327A-EC7E93A4B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093" y="2514748"/>
            <a:ext cx="4191000" cy="3167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970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52600" y="0"/>
            <a:ext cx="8802751" cy="719455"/>
          </a:xfrm>
          <a:custGeom>
            <a:avLst/>
            <a:gdLst/>
            <a:ahLst/>
            <a:cxnLst/>
            <a:rect l="l" t="t" r="r" b="b"/>
            <a:pathLst>
              <a:path w="9596755" h="719455">
                <a:moveTo>
                  <a:pt x="9596628" y="0"/>
                </a:moveTo>
                <a:lnTo>
                  <a:pt x="0" y="0"/>
                </a:lnTo>
                <a:lnTo>
                  <a:pt x="0" y="719327"/>
                </a:lnTo>
                <a:lnTo>
                  <a:pt x="9596628" y="719327"/>
                </a:lnTo>
                <a:lnTo>
                  <a:pt x="9596628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519671"/>
            <a:ext cx="12192000" cy="338455"/>
            <a:chOff x="0" y="6519671"/>
            <a:chExt cx="12192000" cy="338455"/>
          </a:xfrm>
        </p:grpSpPr>
        <p:sp>
          <p:nvSpPr>
            <p:cNvPr id="5" name="object 5"/>
            <p:cNvSpPr/>
            <p:nvPr/>
          </p:nvSpPr>
          <p:spPr>
            <a:xfrm>
              <a:off x="0" y="652424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1472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49811" y="6524243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5"/>
                  </a:lnTo>
                </a:path>
              </a:pathLst>
            </a:custGeom>
            <a:ln w="9144">
              <a:solidFill>
                <a:srgbClr val="567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6856" y="133031"/>
            <a:ext cx="574554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500" b="1" spc="-5" dirty="0">
                <a:latin typeface="Arial"/>
                <a:cs typeface="Arial"/>
              </a:rPr>
              <a:t>Q &amp; A 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81" y="6612222"/>
            <a:ext cx="6565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1000" spc="-10" dirty="0">
                <a:latin typeface="Arial MT"/>
                <a:cs typeface="Arial MT"/>
              </a:rPr>
              <a:t>01/08/2024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11020" y="6612223"/>
            <a:ext cx="18400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z="1000" spc="-5" dirty="0">
                <a:latin typeface="Arial MT"/>
                <a:cs typeface="Arial MT"/>
              </a:rPr>
              <a:t>19</a:t>
            </a:fld>
            <a:endParaRPr sz="1000" dirty="0">
              <a:latin typeface="Arial MT"/>
              <a:cs typeface="Arial MT"/>
            </a:endParaRPr>
          </a:p>
        </p:txBody>
      </p:sp>
      <p:pic>
        <p:nvPicPr>
          <p:cNvPr id="16" name="Picture 4" descr="ifdis sport ingenierie">
            <a:extLst>
              <a:ext uri="{FF2B5EF4-FFF2-40B4-BE49-F238E27FC236}">
                <a16:creationId xmlns:a16="http://schemas.microsoft.com/office/drawing/2014/main" id="{94A4650C-E61F-D648-B4B3-0E1ECFF5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2" y="5798617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Université de Lorraine — Wikipédia">
            <a:extLst>
              <a:ext uri="{FF2B5EF4-FFF2-40B4-BE49-F238E27FC236}">
                <a16:creationId xmlns:a16="http://schemas.microsoft.com/office/drawing/2014/main" id="{936B1ED2-F7AC-714A-9EDA-FA985A6C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4" y="5793892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C6E2C58-1C08-F24D-AFA0-302086D6D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351" y="0"/>
            <a:ext cx="1618366" cy="7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A958B5C-6C7A-EF4B-A188-E24365E848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5877" y="0"/>
            <a:ext cx="1736723" cy="7194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135B125-B175-F248-9538-0182F6F2FF2B}"/>
              </a:ext>
            </a:extLst>
          </p:cNvPr>
          <p:cNvSpPr txBox="1"/>
          <p:nvPr/>
        </p:nvSpPr>
        <p:spPr>
          <a:xfrm>
            <a:off x="-1646135" y="8991323"/>
            <a:ext cx="113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7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-sa/3.0/"/>
              </a:rPr>
              <a:t>CC BY-SA-NC</a:t>
            </a:r>
            <a:endParaRPr lang="fr-FR" sz="900"/>
          </a:p>
        </p:txBody>
      </p:sp>
      <p:pic>
        <p:nvPicPr>
          <p:cNvPr id="34818" name="Picture 2" descr="How to create your own Question-Answering system easily with python | by  André Macedo Farias | Towards Data Science">
            <a:extLst>
              <a:ext uri="{FF2B5EF4-FFF2-40B4-BE49-F238E27FC236}">
                <a16:creationId xmlns:a16="http://schemas.microsoft.com/office/drawing/2014/main" id="{42459CCC-FFFF-6D45-A3AB-02C36EF27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856" y="1248098"/>
            <a:ext cx="7626649" cy="39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98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878" y="-1"/>
            <a:ext cx="12176122" cy="2262187"/>
          </a:xfrm>
          <a:custGeom>
            <a:avLst/>
            <a:gdLst/>
            <a:ahLst/>
            <a:cxnLst/>
            <a:rect l="l" t="t" r="r" b="b"/>
            <a:pathLst>
              <a:path w="9790430" h="2158365">
                <a:moveTo>
                  <a:pt x="0" y="2157984"/>
                </a:moveTo>
                <a:lnTo>
                  <a:pt x="9790176" y="2157984"/>
                </a:lnTo>
                <a:lnTo>
                  <a:pt x="9790176" y="0"/>
                </a:lnTo>
                <a:lnTo>
                  <a:pt x="0" y="0"/>
                </a:lnTo>
                <a:lnTo>
                  <a:pt x="0" y="2157984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33146" y="3429000"/>
            <a:ext cx="68580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fr-FR" sz="5400" b="1" dirty="0">
                <a:solidFill>
                  <a:srgbClr val="0E2E44"/>
                </a:solidFill>
                <a:latin typeface="Arial"/>
                <a:cs typeface="Arial"/>
              </a:rPr>
              <a:t>MERCI</a:t>
            </a:r>
            <a:endParaRPr sz="5400" dirty="0">
              <a:latin typeface="Arial"/>
              <a:cs typeface="Arial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A0C722D-4775-1148-854E-62009BF7B6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877" y="-1"/>
            <a:ext cx="3983737" cy="2262187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4F319D9-522B-CF42-837E-807F8C07C16C}"/>
              </a:ext>
            </a:extLst>
          </p:cNvPr>
          <p:cNvSpPr txBox="1"/>
          <p:nvPr/>
        </p:nvSpPr>
        <p:spPr>
          <a:xfrm>
            <a:off x="-1646136" y="8991323"/>
            <a:ext cx="261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3" tooltip="http://www.mathisintheair.org/wp/2015/12/qualche-osservazione-sui-limiti-delluso-dei-big-data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4" tooltip="https://creativecommons.org/licenses/by-nc-sa/3.0/"/>
              </a:rPr>
              <a:t>CC BY-SA-NC</a:t>
            </a:r>
            <a:endParaRPr lang="fr-FR" sz="90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CDE6C10-E7BE-2842-A07E-46902447F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3" y="14286"/>
            <a:ext cx="36068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ifdis sport ingenierie">
            <a:extLst>
              <a:ext uri="{FF2B5EF4-FFF2-40B4-BE49-F238E27FC236}">
                <a16:creationId xmlns:a16="http://schemas.microsoft.com/office/drawing/2014/main" id="{B8B9CDC9-7944-FC4A-9338-6E66A36A3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2" y="6178725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Université de Lorraine — Wikipédia">
            <a:extLst>
              <a:ext uri="{FF2B5EF4-FFF2-40B4-BE49-F238E27FC236}">
                <a16:creationId xmlns:a16="http://schemas.microsoft.com/office/drawing/2014/main" id="{87AD3C3B-0490-2347-82E7-05F841505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64" y="6174000"/>
            <a:ext cx="197427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AABF0F-DBBD-3724-03CC-484FBD9B18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614" y="0"/>
            <a:ext cx="4553831" cy="226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16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7422</TotalTime>
  <Words>1473</Words>
  <Application>Microsoft Office PowerPoint</Application>
  <PresentationFormat>Grand écran</PresentationFormat>
  <Paragraphs>362</Paragraphs>
  <Slides>20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Arial MT</vt:lpstr>
      <vt:lpstr>Calibri</vt:lpstr>
      <vt:lpstr>Calibri Light</vt:lpstr>
      <vt:lpstr>Wingdings</vt:lpstr>
      <vt:lpstr>Office Theme</vt:lpstr>
      <vt:lpstr>DU : EPSAV-SDS (Analyse Vidéo)</vt:lpstr>
      <vt:lpstr>Tour de table</vt:lpstr>
      <vt:lpstr>Sommaire</vt:lpstr>
      <vt:lpstr>Généralités sur les Data (BI)</vt:lpstr>
      <vt:lpstr>Généralités sur les Data (BI)</vt:lpstr>
      <vt:lpstr>Généralités sur les Data (Data Sport)</vt:lpstr>
      <vt:lpstr>Généralités sur les Data (Data Sport)</vt:lpstr>
      <vt:lpstr>Généralités sur les Data (Data Sport)</vt:lpstr>
      <vt:lpstr>Généralités sur les Data (Data Sport)</vt:lpstr>
      <vt:lpstr>Généralités sur les Data (Data Sport)</vt:lpstr>
      <vt:lpstr>DataSet (Haute Performance Sportive)</vt:lpstr>
      <vt:lpstr>DataSet (Haute Performance Sportive)</vt:lpstr>
      <vt:lpstr>DataSet (Haute Performance Sportive)</vt:lpstr>
      <vt:lpstr>Power BI (Benchmark)</vt:lpstr>
      <vt:lpstr>Power BI (Benchmark)</vt:lpstr>
      <vt:lpstr>Power BI (Mode emploi)</vt:lpstr>
      <vt:lpstr>Power BI (Démo Haute Performance)</vt:lpstr>
      <vt:lpstr>Power BI (Démo Haute Performance)</vt:lpstr>
      <vt:lpstr>Q &amp; A 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</dc:title>
  <dc:creator>MHF</dc:creator>
  <cp:lastModifiedBy>ABOULFADL Driss - externe</cp:lastModifiedBy>
  <cp:revision>899</cp:revision>
  <dcterms:created xsi:type="dcterms:W3CDTF">2021-09-22T20:45:45Z</dcterms:created>
  <dcterms:modified xsi:type="dcterms:W3CDTF">2025-12-08T13:29:02Z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2017-12-18T00:00:00Z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2021-09-22T00:00:00Z</vt:filetime>
  </property>
</Properties>
</file>